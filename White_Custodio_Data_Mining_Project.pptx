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62" r:id="rId3"/>
    <p:sldId id="263" r:id="rId4"/>
    <p:sldId id="264" r:id="rId5"/>
    <p:sldId id="267" r:id="rId6"/>
    <p:sldId id="268" r:id="rId7"/>
    <p:sldId id="257" r:id="rId8"/>
    <p:sldId id="259" r:id="rId9"/>
    <p:sldId id="260" r:id="rId10"/>
    <p:sldId id="261" r:id="rId11"/>
    <p:sldId id="270" r:id="rId12"/>
    <p:sldId id="265" r:id="rId13"/>
    <p:sldId id="272" r:id="rId14"/>
    <p:sldId id="271"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94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2AE1F4-2B92-4EDE-A752-9E8F922996A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34A13B0-D60F-4496-AD32-F4A398F45C32}">
      <dgm:prSet/>
      <dgm:spPr/>
      <dgm:t>
        <a:bodyPr/>
        <a:lstStyle/>
        <a:p>
          <a:pPr>
            <a:lnSpc>
              <a:spcPct val="100000"/>
            </a:lnSpc>
          </a:pPr>
          <a:r>
            <a:rPr lang="en-US"/>
            <a:t>Used car prices vary a lot </a:t>
          </a:r>
        </a:p>
      </dgm:t>
    </dgm:pt>
    <dgm:pt modelId="{7E7795E4-0242-4A76-83C3-7528026C2B01}" type="parTrans" cxnId="{46CC0571-03DF-4EE1-813B-13AB51EC097D}">
      <dgm:prSet/>
      <dgm:spPr/>
      <dgm:t>
        <a:bodyPr/>
        <a:lstStyle/>
        <a:p>
          <a:endParaRPr lang="en-US"/>
        </a:p>
      </dgm:t>
    </dgm:pt>
    <dgm:pt modelId="{02DB32B8-81BF-4DE8-8DC4-CE2CC0BEDD46}" type="sibTrans" cxnId="{46CC0571-03DF-4EE1-813B-13AB51EC097D}">
      <dgm:prSet/>
      <dgm:spPr/>
      <dgm:t>
        <a:bodyPr/>
        <a:lstStyle/>
        <a:p>
          <a:endParaRPr lang="en-US"/>
        </a:p>
      </dgm:t>
    </dgm:pt>
    <dgm:pt modelId="{3846EE86-D341-4949-9F70-0EB27AB2B6DC}">
      <dgm:prSet/>
      <dgm:spPr/>
      <dgm:t>
        <a:bodyPr/>
        <a:lstStyle/>
        <a:p>
          <a:pPr>
            <a:lnSpc>
              <a:spcPct val="100000"/>
            </a:lnSpc>
          </a:pPr>
          <a:r>
            <a:rPr lang="en-US"/>
            <a:t>Hard to estimate fair value </a:t>
          </a:r>
        </a:p>
      </dgm:t>
    </dgm:pt>
    <dgm:pt modelId="{E2E6ACFA-DC75-4A36-A719-C785DBF77024}" type="parTrans" cxnId="{7003B4FE-6555-4171-A46D-3BF01B84B53C}">
      <dgm:prSet/>
      <dgm:spPr/>
      <dgm:t>
        <a:bodyPr/>
        <a:lstStyle/>
        <a:p>
          <a:endParaRPr lang="en-US"/>
        </a:p>
      </dgm:t>
    </dgm:pt>
    <dgm:pt modelId="{C3B363F7-12E9-416D-A653-EAD7A8C23B24}" type="sibTrans" cxnId="{7003B4FE-6555-4171-A46D-3BF01B84B53C}">
      <dgm:prSet/>
      <dgm:spPr/>
      <dgm:t>
        <a:bodyPr/>
        <a:lstStyle/>
        <a:p>
          <a:endParaRPr lang="en-US"/>
        </a:p>
      </dgm:t>
    </dgm:pt>
    <dgm:pt modelId="{CAAE059E-9BDD-4972-B1F6-4F40C880BBB3}">
      <dgm:prSet/>
      <dgm:spPr/>
      <dgm:t>
        <a:bodyPr/>
        <a:lstStyle/>
        <a:p>
          <a:pPr>
            <a:lnSpc>
              <a:spcPct val="100000"/>
            </a:lnSpc>
          </a:pPr>
          <a:r>
            <a:rPr lang="en-US"/>
            <a:t>Need data-driven prediction</a:t>
          </a:r>
        </a:p>
      </dgm:t>
    </dgm:pt>
    <dgm:pt modelId="{635C087E-6E0F-45F3-908E-EF81F4C65A96}" type="parTrans" cxnId="{65F007F4-8D42-4B98-B0AB-45FF594D477A}">
      <dgm:prSet/>
      <dgm:spPr/>
      <dgm:t>
        <a:bodyPr/>
        <a:lstStyle/>
        <a:p>
          <a:endParaRPr lang="en-US"/>
        </a:p>
      </dgm:t>
    </dgm:pt>
    <dgm:pt modelId="{38A61DE1-2C23-4087-AC71-F32BF2AC6C54}" type="sibTrans" cxnId="{65F007F4-8D42-4B98-B0AB-45FF594D477A}">
      <dgm:prSet/>
      <dgm:spPr/>
      <dgm:t>
        <a:bodyPr/>
        <a:lstStyle/>
        <a:p>
          <a:endParaRPr lang="en-US"/>
        </a:p>
      </dgm:t>
    </dgm:pt>
    <dgm:pt modelId="{7EF944F4-18C9-42BD-8FB4-8317BBD56BBA}" type="pres">
      <dgm:prSet presAssocID="{AA2AE1F4-2B92-4EDE-A752-9E8F922996A9}" presName="root" presStyleCnt="0">
        <dgm:presLayoutVars>
          <dgm:dir/>
          <dgm:resizeHandles val="exact"/>
        </dgm:presLayoutVars>
      </dgm:prSet>
      <dgm:spPr/>
    </dgm:pt>
    <dgm:pt modelId="{60E6A3DD-142B-4233-B8C7-882F3F74847C}" type="pres">
      <dgm:prSet presAssocID="{C34A13B0-D60F-4496-AD32-F4A398F45C32}" presName="compNode" presStyleCnt="0"/>
      <dgm:spPr/>
    </dgm:pt>
    <dgm:pt modelId="{6906AEAC-B37F-4F3E-BDEC-3575C0E4B72D}" type="pres">
      <dgm:prSet presAssocID="{C34A13B0-D60F-4496-AD32-F4A398F45C3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r"/>
        </a:ext>
      </dgm:extLst>
    </dgm:pt>
    <dgm:pt modelId="{AB85DFA1-04C0-40F1-8842-11FCC9DCCC38}" type="pres">
      <dgm:prSet presAssocID="{C34A13B0-D60F-4496-AD32-F4A398F45C32}" presName="spaceRect" presStyleCnt="0"/>
      <dgm:spPr/>
    </dgm:pt>
    <dgm:pt modelId="{54DF4294-8137-4683-8872-38543A363B1B}" type="pres">
      <dgm:prSet presAssocID="{C34A13B0-D60F-4496-AD32-F4A398F45C32}" presName="textRect" presStyleLbl="revTx" presStyleIdx="0" presStyleCnt="3">
        <dgm:presLayoutVars>
          <dgm:chMax val="1"/>
          <dgm:chPref val="1"/>
        </dgm:presLayoutVars>
      </dgm:prSet>
      <dgm:spPr/>
    </dgm:pt>
    <dgm:pt modelId="{BCE2B2C9-3DD6-42A0-897E-869B4BD41644}" type="pres">
      <dgm:prSet presAssocID="{02DB32B8-81BF-4DE8-8DC4-CE2CC0BEDD46}" presName="sibTrans" presStyleCnt="0"/>
      <dgm:spPr/>
    </dgm:pt>
    <dgm:pt modelId="{1A109281-20CB-4F82-B6EF-4AE6F38F9448}" type="pres">
      <dgm:prSet presAssocID="{3846EE86-D341-4949-9F70-0EB27AB2B6DC}" presName="compNode" presStyleCnt="0"/>
      <dgm:spPr/>
    </dgm:pt>
    <dgm:pt modelId="{11DD40ED-242D-4F01-809F-DF026DF2B460}" type="pres">
      <dgm:prSet presAssocID="{3846EE86-D341-4949-9F70-0EB27AB2B6D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lculator"/>
        </a:ext>
      </dgm:extLst>
    </dgm:pt>
    <dgm:pt modelId="{4309AE8F-843E-4749-A6B2-726E69432001}" type="pres">
      <dgm:prSet presAssocID="{3846EE86-D341-4949-9F70-0EB27AB2B6DC}" presName="spaceRect" presStyleCnt="0"/>
      <dgm:spPr/>
    </dgm:pt>
    <dgm:pt modelId="{0EA3DDF9-F8F5-485D-BC91-210494735563}" type="pres">
      <dgm:prSet presAssocID="{3846EE86-D341-4949-9F70-0EB27AB2B6DC}" presName="textRect" presStyleLbl="revTx" presStyleIdx="1" presStyleCnt="3">
        <dgm:presLayoutVars>
          <dgm:chMax val="1"/>
          <dgm:chPref val="1"/>
        </dgm:presLayoutVars>
      </dgm:prSet>
      <dgm:spPr/>
    </dgm:pt>
    <dgm:pt modelId="{846DE8E0-4706-4249-B280-9408F66ABE59}" type="pres">
      <dgm:prSet presAssocID="{C3B363F7-12E9-416D-A653-EAD7A8C23B24}" presName="sibTrans" presStyleCnt="0"/>
      <dgm:spPr/>
    </dgm:pt>
    <dgm:pt modelId="{14CF5E2A-5454-48FE-9149-0B9201A3D94C}" type="pres">
      <dgm:prSet presAssocID="{CAAE059E-9BDD-4972-B1F6-4F40C880BBB3}" presName="compNode" presStyleCnt="0"/>
      <dgm:spPr/>
    </dgm:pt>
    <dgm:pt modelId="{963DE1E7-E0F1-43C2-BE08-432FDE370C6F}" type="pres">
      <dgm:prSet presAssocID="{CAAE059E-9BDD-4972-B1F6-4F40C880BBB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7F97129F-600B-413B-95C1-2DA4A0449FD4}" type="pres">
      <dgm:prSet presAssocID="{CAAE059E-9BDD-4972-B1F6-4F40C880BBB3}" presName="spaceRect" presStyleCnt="0"/>
      <dgm:spPr/>
    </dgm:pt>
    <dgm:pt modelId="{C8E9C83A-8E21-4FB9-8723-E629D61811AF}" type="pres">
      <dgm:prSet presAssocID="{CAAE059E-9BDD-4972-B1F6-4F40C880BBB3}" presName="textRect" presStyleLbl="revTx" presStyleIdx="2" presStyleCnt="3">
        <dgm:presLayoutVars>
          <dgm:chMax val="1"/>
          <dgm:chPref val="1"/>
        </dgm:presLayoutVars>
      </dgm:prSet>
      <dgm:spPr/>
    </dgm:pt>
  </dgm:ptLst>
  <dgm:cxnLst>
    <dgm:cxn modelId="{BE3AA766-3AFD-4F1B-A6CC-4740BACCBB6F}" type="presOf" srcId="{C34A13B0-D60F-4496-AD32-F4A398F45C32}" destId="{54DF4294-8137-4683-8872-38543A363B1B}" srcOrd="0" destOrd="0" presId="urn:microsoft.com/office/officeart/2018/2/layout/IconLabelList"/>
    <dgm:cxn modelId="{46CC0571-03DF-4EE1-813B-13AB51EC097D}" srcId="{AA2AE1F4-2B92-4EDE-A752-9E8F922996A9}" destId="{C34A13B0-D60F-4496-AD32-F4A398F45C32}" srcOrd="0" destOrd="0" parTransId="{7E7795E4-0242-4A76-83C3-7528026C2B01}" sibTransId="{02DB32B8-81BF-4DE8-8DC4-CE2CC0BEDD46}"/>
    <dgm:cxn modelId="{ECD2BAAD-59E1-48CC-8B8D-1FC268FA7C2E}" type="presOf" srcId="{CAAE059E-9BDD-4972-B1F6-4F40C880BBB3}" destId="{C8E9C83A-8E21-4FB9-8723-E629D61811AF}" srcOrd="0" destOrd="0" presId="urn:microsoft.com/office/officeart/2018/2/layout/IconLabelList"/>
    <dgm:cxn modelId="{AAE478C9-EA84-4975-9B7D-48A3FF66E91D}" type="presOf" srcId="{AA2AE1F4-2B92-4EDE-A752-9E8F922996A9}" destId="{7EF944F4-18C9-42BD-8FB4-8317BBD56BBA}" srcOrd="0" destOrd="0" presId="urn:microsoft.com/office/officeart/2018/2/layout/IconLabelList"/>
    <dgm:cxn modelId="{8FB1E3CF-ADD0-4373-82F5-5E8E168ED96E}" type="presOf" srcId="{3846EE86-D341-4949-9F70-0EB27AB2B6DC}" destId="{0EA3DDF9-F8F5-485D-BC91-210494735563}" srcOrd="0" destOrd="0" presId="urn:microsoft.com/office/officeart/2018/2/layout/IconLabelList"/>
    <dgm:cxn modelId="{65F007F4-8D42-4B98-B0AB-45FF594D477A}" srcId="{AA2AE1F4-2B92-4EDE-A752-9E8F922996A9}" destId="{CAAE059E-9BDD-4972-B1F6-4F40C880BBB3}" srcOrd="2" destOrd="0" parTransId="{635C087E-6E0F-45F3-908E-EF81F4C65A96}" sibTransId="{38A61DE1-2C23-4087-AC71-F32BF2AC6C54}"/>
    <dgm:cxn modelId="{7003B4FE-6555-4171-A46D-3BF01B84B53C}" srcId="{AA2AE1F4-2B92-4EDE-A752-9E8F922996A9}" destId="{3846EE86-D341-4949-9F70-0EB27AB2B6DC}" srcOrd="1" destOrd="0" parTransId="{E2E6ACFA-DC75-4A36-A719-C785DBF77024}" sibTransId="{C3B363F7-12E9-416D-A653-EAD7A8C23B24}"/>
    <dgm:cxn modelId="{5DE89A65-6003-456C-85D7-7ED4300A328F}" type="presParOf" srcId="{7EF944F4-18C9-42BD-8FB4-8317BBD56BBA}" destId="{60E6A3DD-142B-4233-B8C7-882F3F74847C}" srcOrd="0" destOrd="0" presId="urn:microsoft.com/office/officeart/2018/2/layout/IconLabelList"/>
    <dgm:cxn modelId="{9F113F92-B0EC-4F7A-B566-920F68B9FCC2}" type="presParOf" srcId="{60E6A3DD-142B-4233-B8C7-882F3F74847C}" destId="{6906AEAC-B37F-4F3E-BDEC-3575C0E4B72D}" srcOrd="0" destOrd="0" presId="urn:microsoft.com/office/officeart/2018/2/layout/IconLabelList"/>
    <dgm:cxn modelId="{01F4F75C-2834-4F9E-8EFF-5FC7B58A23BC}" type="presParOf" srcId="{60E6A3DD-142B-4233-B8C7-882F3F74847C}" destId="{AB85DFA1-04C0-40F1-8842-11FCC9DCCC38}" srcOrd="1" destOrd="0" presId="urn:microsoft.com/office/officeart/2018/2/layout/IconLabelList"/>
    <dgm:cxn modelId="{A1923423-CF3F-4882-9561-EF9737D0175D}" type="presParOf" srcId="{60E6A3DD-142B-4233-B8C7-882F3F74847C}" destId="{54DF4294-8137-4683-8872-38543A363B1B}" srcOrd="2" destOrd="0" presId="urn:microsoft.com/office/officeart/2018/2/layout/IconLabelList"/>
    <dgm:cxn modelId="{078F25D9-8A6D-4775-8E5F-EDF13E74437B}" type="presParOf" srcId="{7EF944F4-18C9-42BD-8FB4-8317BBD56BBA}" destId="{BCE2B2C9-3DD6-42A0-897E-869B4BD41644}" srcOrd="1" destOrd="0" presId="urn:microsoft.com/office/officeart/2018/2/layout/IconLabelList"/>
    <dgm:cxn modelId="{56706786-AD64-4795-8FDD-83751B1ED3C8}" type="presParOf" srcId="{7EF944F4-18C9-42BD-8FB4-8317BBD56BBA}" destId="{1A109281-20CB-4F82-B6EF-4AE6F38F9448}" srcOrd="2" destOrd="0" presId="urn:microsoft.com/office/officeart/2018/2/layout/IconLabelList"/>
    <dgm:cxn modelId="{36B962AE-DEBF-4369-AA34-5C62D399DABE}" type="presParOf" srcId="{1A109281-20CB-4F82-B6EF-4AE6F38F9448}" destId="{11DD40ED-242D-4F01-809F-DF026DF2B460}" srcOrd="0" destOrd="0" presId="urn:microsoft.com/office/officeart/2018/2/layout/IconLabelList"/>
    <dgm:cxn modelId="{E2B48EB7-C7F7-44B2-9D7C-9246AC4464AB}" type="presParOf" srcId="{1A109281-20CB-4F82-B6EF-4AE6F38F9448}" destId="{4309AE8F-843E-4749-A6B2-726E69432001}" srcOrd="1" destOrd="0" presId="urn:microsoft.com/office/officeart/2018/2/layout/IconLabelList"/>
    <dgm:cxn modelId="{94DABB2C-1C14-4994-902E-060600D63A3F}" type="presParOf" srcId="{1A109281-20CB-4F82-B6EF-4AE6F38F9448}" destId="{0EA3DDF9-F8F5-485D-BC91-210494735563}" srcOrd="2" destOrd="0" presId="urn:microsoft.com/office/officeart/2018/2/layout/IconLabelList"/>
    <dgm:cxn modelId="{5E1EF544-3D00-41F1-9242-11EF000BE459}" type="presParOf" srcId="{7EF944F4-18C9-42BD-8FB4-8317BBD56BBA}" destId="{846DE8E0-4706-4249-B280-9408F66ABE59}" srcOrd="3" destOrd="0" presId="urn:microsoft.com/office/officeart/2018/2/layout/IconLabelList"/>
    <dgm:cxn modelId="{F9EA3FA6-A7FB-4501-9BCA-15A185B3482A}" type="presParOf" srcId="{7EF944F4-18C9-42BD-8FB4-8317BBD56BBA}" destId="{14CF5E2A-5454-48FE-9149-0B9201A3D94C}" srcOrd="4" destOrd="0" presId="urn:microsoft.com/office/officeart/2018/2/layout/IconLabelList"/>
    <dgm:cxn modelId="{ED86B2FC-20CE-4804-9F0E-12F0A95CFC8A}" type="presParOf" srcId="{14CF5E2A-5454-48FE-9149-0B9201A3D94C}" destId="{963DE1E7-E0F1-43C2-BE08-432FDE370C6F}" srcOrd="0" destOrd="0" presId="urn:microsoft.com/office/officeart/2018/2/layout/IconLabelList"/>
    <dgm:cxn modelId="{368A1CDA-6346-437F-8C32-BD0D5B888D5F}" type="presParOf" srcId="{14CF5E2A-5454-48FE-9149-0B9201A3D94C}" destId="{7F97129F-600B-413B-95C1-2DA4A0449FD4}" srcOrd="1" destOrd="0" presId="urn:microsoft.com/office/officeart/2018/2/layout/IconLabelList"/>
    <dgm:cxn modelId="{E2F81055-9E83-4951-B345-5D2CECA868B0}" type="presParOf" srcId="{14CF5E2A-5454-48FE-9149-0B9201A3D94C}" destId="{C8E9C83A-8E21-4FB9-8723-E629D61811A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720361-1F23-4A3A-88B0-51F250953D07}"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759CF938-BD6A-4CC1-A921-9164E1E046CC}">
      <dgm:prSet/>
      <dgm:spPr/>
      <dgm:t>
        <a:bodyPr/>
        <a:lstStyle/>
        <a:p>
          <a:r>
            <a:rPr lang="en-US"/>
            <a:t>Helps buyers avoid overpaying </a:t>
          </a:r>
        </a:p>
      </dgm:t>
    </dgm:pt>
    <dgm:pt modelId="{E5156E83-8A51-4690-A26B-77F738702835}" type="parTrans" cxnId="{9371B571-D260-4BF3-B1DB-4AD725C937A0}">
      <dgm:prSet/>
      <dgm:spPr/>
      <dgm:t>
        <a:bodyPr/>
        <a:lstStyle/>
        <a:p>
          <a:endParaRPr lang="en-US"/>
        </a:p>
      </dgm:t>
    </dgm:pt>
    <dgm:pt modelId="{4D137B0C-6235-4F83-B76C-0E1E3ED175C9}" type="sibTrans" cxnId="{9371B571-D260-4BF3-B1DB-4AD725C937A0}">
      <dgm:prSet/>
      <dgm:spPr/>
      <dgm:t>
        <a:bodyPr/>
        <a:lstStyle/>
        <a:p>
          <a:endParaRPr lang="en-US"/>
        </a:p>
      </dgm:t>
    </dgm:pt>
    <dgm:pt modelId="{FEC622C8-589B-4EFC-99C5-10D9EA4AC141}">
      <dgm:prSet/>
      <dgm:spPr/>
      <dgm:t>
        <a:bodyPr/>
        <a:lstStyle/>
        <a:p>
          <a:r>
            <a:rPr lang="en-US"/>
            <a:t>Helps sellers price correctly </a:t>
          </a:r>
        </a:p>
      </dgm:t>
    </dgm:pt>
    <dgm:pt modelId="{617477CA-ACA3-4581-8C61-46AB5AB9B4B8}" type="parTrans" cxnId="{3E0C674C-D91A-4F37-8EB3-5B7FE0158A87}">
      <dgm:prSet/>
      <dgm:spPr/>
      <dgm:t>
        <a:bodyPr/>
        <a:lstStyle/>
        <a:p>
          <a:endParaRPr lang="en-US"/>
        </a:p>
      </dgm:t>
    </dgm:pt>
    <dgm:pt modelId="{E888C0F8-CD14-4BC3-B3FA-EDA6609940F7}" type="sibTrans" cxnId="{3E0C674C-D91A-4F37-8EB3-5B7FE0158A87}">
      <dgm:prSet/>
      <dgm:spPr/>
      <dgm:t>
        <a:bodyPr/>
        <a:lstStyle/>
        <a:p>
          <a:endParaRPr lang="en-US"/>
        </a:p>
      </dgm:t>
    </dgm:pt>
    <dgm:pt modelId="{D50C6851-3A64-483A-99CA-97A9C74DBDA5}">
      <dgm:prSet/>
      <dgm:spPr/>
      <dgm:t>
        <a:bodyPr/>
        <a:lstStyle/>
        <a:p>
          <a:r>
            <a:rPr lang="en-US"/>
            <a:t>Real-world business value</a:t>
          </a:r>
        </a:p>
      </dgm:t>
    </dgm:pt>
    <dgm:pt modelId="{D0C696C9-4413-452C-B573-7D7BF5B39EED}" type="parTrans" cxnId="{1512A8B8-FB00-4D96-893E-1C3F293BDA64}">
      <dgm:prSet/>
      <dgm:spPr/>
      <dgm:t>
        <a:bodyPr/>
        <a:lstStyle/>
        <a:p>
          <a:endParaRPr lang="en-US"/>
        </a:p>
      </dgm:t>
    </dgm:pt>
    <dgm:pt modelId="{21D88F26-4BDC-46FC-BBFF-DEEBDDD1A904}" type="sibTrans" cxnId="{1512A8B8-FB00-4D96-893E-1C3F293BDA64}">
      <dgm:prSet/>
      <dgm:spPr/>
      <dgm:t>
        <a:bodyPr/>
        <a:lstStyle/>
        <a:p>
          <a:endParaRPr lang="en-US"/>
        </a:p>
      </dgm:t>
    </dgm:pt>
    <dgm:pt modelId="{1BBD11BC-902F-4C32-8B2E-03E485FE4CB1}" type="pres">
      <dgm:prSet presAssocID="{CF720361-1F23-4A3A-88B0-51F250953D07}" presName="root" presStyleCnt="0">
        <dgm:presLayoutVars>
          <dgm:dir/>
          <dgm:resizeHandles val="exact"/>
        </dgm:presLayoutVars>
      </dgm:prSet>
      <dgm:spPr/>
    </dgm:pt>
    <dgm:pt modelId="{856782EA-3336-4C17-91A5-323D9A5EA9DC}" type="pres">
      <dgm:prSet presAssocID="{759CF938-BD6A-4CC1-A921-9164E1E046CC}" presName="compNode" presStyleCnt="0"/>
      <dgm:spPr/>
    </dgm:pt>
    <dgm:pt modelId="{ED0B524E-C8FC-48CA-8003-46B61EE5C27E}" type="pres">
      <dgm:prSet presAssocID="{759CF938-BD6A-4CC1-A921-9164E1E046C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9CF96412-82C4-4F45-BAA1-C8D15DA1F1A4}" type="pres">
      <dgm:prSet presAssocID="{759CF938-BD6A-4CC1-A921-9164E1E046CC}" presName="spaceRect" presStyleCnt="0"/>
      <dgm:spPr/>
    </dgm:pt>
    <dgm:pt modelId="{2E75F7BC-AF81-4534-9705-1CB0E536A88E}" type="pres">
      <dgm:prSet presAssocID="{759CF938-BD6A-4CC1-A921-9164E1E046CC}" presName="textRect" presStyleLbl="revTx" presStyleIdx="0" presStyleCnt="3">
        <dgm:presLayoutVars>
          <dgm:chMax val="1"/>
          <dgm:chPref val="1"/>
        </dgm:presLayoutVars>
      </dgm:prSet>
      <dgm:spPr/>
    </dgm:pt>
    <dgm:pt modelId="{955B15F6-BA78-488D-82A1-149DAF2FE99D}" type="pres">
      <dgm:prSet presAssocID="{4D137B0C-6235-4F83-B76C-0E1E3ED175C9}" presName="sibTrans" presStyleCnt="0"/>
      <dgm:spPr/>
    </dgm:pt>
    <dgm:pt modelId="{61D47F68-3912-4F14-BACB-E2FC0AE366AB}" type="pres">
      <dgm:prSet presAssocID="{FEC622C8-589B-4EFC-99C5-10D9EA4AC141}" presName="compNode" presStyleCnt="0"/>
      <dgm:spPr/>
    </dgm:pt>
    <dgm:pt modelId="{E8D16D92-8FED-48DE-B9E0-F722A9B01A1A}" type="pres">
      <dgm:prSet presAssocID="{FEC622C8-589B-4EFC-99C5-10D9EA4AC14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0F17FE1A-2DC9-408C-9FE3-D05F4182CEBE}" type="pres">
      <dgm:prSet presAssocID="{FEC622C8-589B-4EFC-99C5-10D9EA4AC141}" presName="spaceRect" presStyleCnt="0"/>
      <dgm:spPr/>
    </dgm:pt>
    <dgm:pt modelId="{E9537256-352F-49D5-ADC8-55EFC4AF4D0D}" type="pres">
      <dgm:prSet presAssocID="{FEC622C8-589B-4EFC-99C5-10D9EA4AC141}" presName="textRect" presStyleLbl="revTx" presStyleIdx="1" presStyleCnt="3">
        <dgm:presLayoutVars>
          <dgm:chMax val="1"/>
          <dgm:chPref val="1"/>
        </dgm:presLayoutVars>
      </dgm:prSet>
      <dgm:spPr/>
    </dgm:pt>
    <dgm:pt modelId="{1AD9B443-4862-4BEB-AA61-6C168D470757}" type="pres">
      <dgm:prSet presAssocID="{E888C0F8-CD14-4BC3-B3FA-EDA6609940F7}" presName="sibTrans" presStyleCnt="0"/>
      <dgm:spPr/>
    </dgm:pt>
    <dgm:pt modelId="{65C4E63A-852D-47F2-8FDF-75AFACDC7928}" type="pres">
      <dgm:prSet presAssocID="{D50C6851-3A64-483A-99CA-97A9C74DBDA5}" presName="compNode" presStyleCnt="0"/>
      <dgm:spPr/>
    </dgm:pt>
    <dgm:pt modelId="{16B82632-6D85-4687-8A8E-DE064591468E}" type="pres">
      <dgm:prSet presAssocID="{D50C6851-3A64-483A-99CA-97A9C74DBDA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Yuan"/>
        </a:ext>
      </dgm:extLst>
    </dgm:pt>
    <dgm:pt modelId="{CA84F1D1-C31A-4924-B965-3EB0B6BFDCB5}" type="pres">
      <dgm:prSet presAssocID="{D50C6851-3A64-483A-99CA-97A9C74DBDA5}" presName="spaceRect" presStyleCnt="0"/>
      <dgm:spPr/>
    </dgm:pt>
    <dgm:pt modelId="{A9B81986-F312-4735-A460-CD6C173D73EA}" type="pres">
      <dgm:prSet presAssocID="{D50C6851-3A64-483A-99CA-97A9C74DBDA5}" presName="textRect" presStyleLbl="revTx" presStyleIdx="2" presStyleCnt="3">
        <dgm:presLayoutVars>
          <dgm:chMax val="1"/>
          <dgm:chPref val="1"/>
        </dgm:presLayoutVars>
      </dgm:prSet>
      <dgm:spPr/>
    </dgm:pt>
  </dgm:ptLst>
  <dgm:cxnLst>
    <dgm:cxn modelId="{4BEF2C03-0C9C-49BC-A6D9-12401AA45DE3}" type="presOf" srcId="{759CF938-BD6A-4CC1-A921-9164E1E046CC}" destId="{2E75F7BC-AF81-4534-9705-1CB0E536A88E}" srcOrd="0" destOrd="0" presId="urn:microsoft.com/office/officeart/2018/2/layout/IconLabelList"/>
    <dgm:cxn modelId="{7896853C-C8F4-4F81-A099-C865126D1CD1}" type="presOf" srcId="{D50C6851-3A64-483A-99CA-97A9C74DBDA5}" destId="{A9B81986-F312-4735-A460-CD6C173D73EA}" srcOrd="0" destOrd="0" presId="urn:microsoft.com/office/officeart/2018/2/layout/IconLabelList"/>
    <dgm:cxn modelId="{3E0C674C-D91A-4F37-8EB3-5B7FE0158A87}" srcId="{CF720361-1F23-4A3A-88B0-51F250953D07}" destId="{FEC622C8-589B-4EFC-99C5-10D9EA4AC141}" srcOrd="1" destOrd="0" parTransId="{617477CA-ACA3-4581-8C61-46AB5AB9B4B8}" sibTransId="{E888C0F8-CD14-4BC3-B3FA-EDA6609940F7}"/>
    <dgm:cxn modelId="{9371B571-D260-4BF3-B1DB-4AD725C937A0}" srcId="{CF720361-1F23-4A3A-88B0-51F250953D07}" destId="{759CF938-BD6A-4CC1-A921-9164E1E046CC}" srcOrd="0" destOrd="0" parTransId="{E5156E83-8A51-4690-A26B-77F738702835}" sibTransId="{4D137B0C-6235-4F83-B76C-0E1E3ED175C9}"/>
    <dgm:cxn modelId="{5F12A178-8309-4F44-8B2F-185511959AC4}" type="presOf" srcId="{CF720361-1F23-4A3A-88B0-51F250953D07}" destId="{1BBD11BC-902F-4C32-8B2E-03E485FE4CB1}" srcOrd="0" destOrd="0" presId="urn:microsoft.com/office/officeart/2018/2/layout/IconLabelList"/>
    <dgm:cxn modelId="{1512A8B8-FB00-4D96-893E-1C3F293BDA64}" srcId="{CF720361-1F23-4A3A-88B0-51F250953D07}" destId="{D50C6851-3A64-483A-99CA-97A9C74DBDA5}" srcOrd="2" destOrd="0" parTransId="{D0C696C9-4413-452C-B573-7D7BF5B39EED}" sibTransId="{21D88F26-4BDC-46FC-BBFF-DEEBDDD1A904}"/>
    <dgm:cxn modelId="{1B6F1CE7-782F-40E9-A250-B3B893F54EFF}" type="presOf" srcId="{FEC622C8-589B-4EFC-99C5-10D9EA4AC141}" destId="{E9537256-352F-49D5-ADC8-55EFC4AF4D0D}" srcOrd="0" destOrd="0" presId="urn:microsoft.com/office/officeart/2018/2/layout/IconLabelList"/>
    <dgm:cxn modelId="{86F3B2F1-0FD6-468B-9CFF-9695B86BC779}" type="presParOf" srcId="{1BBD11BC-902F-4C32-8B2E-03E485FE4CB1}" destId="{856782EA-3336-4C17-91A5-323D9A5EA9DC}" srcOrd="0" destOrd="0" presId="urn:microsoft.com/office/officeart/2018/2/layout/IconLabelList"/>
    <dgm:cxn modelId="{4A0AC89B-7454-48A4-869F-E7EDE59F0766}" type="presParOf" srcId="{856782EA-3336-4C17-91A5-323D9A5EA9DC}" destId="{ED0B524E-C8FC-48CA-8003-46B61EE5C27E}" srcOrd="0" destOrd="0" presId="urn:microsoft.com/office/officeart/2018/2/layout/IconLabelList"/>
    <dgm:cxn modelId="{F4D3C1CC-FB67-4455-B3E9-448D5E575DDA}" type="presParOf" srcId="{856782EA-3336-4C17-91A5-323D9A5EA9DC}" destId="{9CF96412-82C4-4F45-BAA1-C8D15DA1F1A4}" srcOrd="1" destOrd="0" presId="urn:microsoft.com/office/officeart/2018/2/layout/IconLabelList"/>
    <dgm:cxn modelId="{3026BA4E-A12B-4748-AF5E-141E5C4A99B4}" type="presParOf" srcId="{856782EA-3336-4C17-91A5-323D9A5EA9DC}" destId="{2E75F7BC-AF81-4534-9705-1CB0E536A88E}" srcOrd="2" destOrd="0" presId="urn:microsoft.com/office/officeart/2018/2/layout/IconLabelList"/>
    <dgm:cxn modelId="{EE86808E-1D63-4878-BAB3-D5DD6A27BD6A}" type="presParOf" srcId="{1BBD11BC-902F-4C32-8B2E-03E485FE4CB1}" destId="{955B15F6-BA78-488D-82A1-149DAF2FE99D}" srcOrd="1" destOrd="0" presId="urn:microsoft.com/office/officeart/2018/2/layout/IconLabelList"/>
    <dgm:cxn modelId="{6D62AD6D-FD76-4E8F-8F4C-65A42DFA49D1}" type="presParOf" srcId="{1BBD11BC-902F-4C32-8B2E-03E485FE4CB1}" destId="{61D47F68-3912-4F14-BACB-E2FC0AE366AB}" srcOrd="2" destOrd="0" presId="urn:microsoft.com/office/officeart/2018/2/layout/IconLabelList"/>
    <dgm:cxn modelId="{922849C0-2F25-48A9-A55B-42B2FEB9DE6E}" type="presParOf" srcId="{61D47F68-3912-4F14-BACB-E2FC0AE366AB}" destId="{E8D16D92-8FED-48DE-B9E0-F722A9B01A1A}" srcOrd="0" destOrd="0" presId="urn:microsoft.com/office/officeart/2018/2/layout/IconLabelList"/>
    <dgm:cxn modelId="{B5815A8A-C7D9-4973-A60E-FDD45EBD2EAE}" type="presParOf" srcId="{61D47F68-3912-4F14-BACB-E2FC0AE366AB}" destId="{0F17FE1A-2DC9-408C-9FE3-D05F4182CEBE}" srcOrd="1" destOrd="0" presId="urn:microsoft.com/office/officeart/2018/2/layout/IconLabelList"/>
    <dgm:cxn modelId="{DF19B267-82B9-48A2-9B60-1645A37E8042}" type="presParOf" srcId="{61D47F68-3912-4F14-BACB-E2FC0AE366AB}" destId="{E9537256-352F-49D5-ADC8-55EFC4AF4D0D}" srcOrd="2" destOrd="0" presId="urn:microsoft.com/office/officeart/2018/2/layout/IconLabelList"/>
    <dgm:cxn modelId="{902475C2-265E-41A0-B365-2D18C21D6E35}" type="presParOf" srcId="{1BBD11BC-902F-4C32-8B2E-03E485FE4CB1}" destId="{1AD9B443-4862-4BEB-AA61-6C168D470757}" srcOrd="3" destOrd="0" presId="urn:microsoft.com/office/officeart/2018/2/layout/IconLabelList"/>
    <dgm:cxn modelId="{5A640319-F854-4121-B12E-632BF8246C9B}" type="presParOf" srcId="{1BBD11BC-902F-4C32-8B2E-03E485FE4CB1}" destId="{65C4E63A-852D-47F2-8FDF-75AFACDC7928}" srcOrd="4" destOrd="0" presId="urn:microsoft.com/office/officeart/2018/2/layout/IconLabelList"/>
    <dgm:cxn modelId="{84F3DC9D-929B-450F-ACC5-67A43C1CA21B}" type="presParOf" srcId="{65C4E63A-852D-47F2-8FDF-75AFACDC7928}" destId="{16B82632-6D85-4687-8A8E-DE064591468E}" srcOrd="0" destOrd="0" presId="urn:microsoft.com/office/officeart/2018/2/layout/IconLabelList"/>
    <dgm:cxn modelId="{C075A21C-68F1-4599-BE94-DAD0D558E030}" type="presParOf" srcId="{65C4E63A-852D-47F2-8FDF-75AFACDC7928}" destId="{CA84F1D1-C31A-4924-B965-3EB0B6BFDCB5}" srcOrd="1" destOrd="0" presId="urn:microsoft.com/office/officeart/2018/2/layout/IconLabelList"/>
    <dgm:cxn modelId="{4F240975-1F21-46C4-AF60-0A600DC09837}" type="presParOf" srcId="{65C4E63A-852D-47F2-8FDF-75AFACDC7928}" destId="{A9B81986-F312-4735-A460-CD6C173D73E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1C1E0E-F67E-48AD-A930-44BED7DBF2D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C4105F3-009B-4250-8C86-1EABC546F74E}">
      <dgm:prSet/>
      <dgm:spPr/>
      <dgm:t>
        <a:bodyPr/>
        <a:lstStyle/>
        <a:p>
          <a:r>
            <a:rPr lang="en-US"/>
            <a:t>Filled missing values in service_history with “Unknown” </a:t>
          </a:r>
        </a:p>
      </dgm:t>
    </dgm:pt>
    <dgm:pt modelId="{E09A47A7-4371-4A55-9BA7-970C1DC31B46}" type="parTrans" cxnId="{DAB9ED06-E444-42C7-893A-33ACE4EF61C9}">
      <dgm:prSet/>
      <dgm:spPr/>
      <dgm:t>
        <a:bodyPr/>
        <a:lstStyle/>
        <a:p>
          <a:endParaRPr lang="en-US"/>
        </a:p>
      </dgm:t>
    </dgm:pt>
    <dgm:pt modelId="{6CFFA2E4-E655-4FFC-B8BA-7013394C0541}" type="sibTrans" cxnId="{DAB9ED06-E444-42C7-893A-33ACE4EF61C9}">
      <dgm:prSet/>
      <dgm:spPr/>
      <dgm:t>
        <a:bodyPr/>
        <a:lstStyle/>
        <a:p>
          <a:endParaRPr lang="en-US"/>
        </a:p>
      </dgm:t>
    </dgm:pt>
    <dgm:pt modelId="{BAFBFD94-AF34-4640-B493-04CFBD36A361}">
      <dgm:prSet/>
      <dgm:spPr/>
      <dgm:t>
        <a:bodyPr/>
        <a:lstStyle/>
        <a:p>
          <a:r>
            <a:rPr lang="en-US"/>
            <a:t>Encoded categorical variables using LabelEncoder </a:t>
          </a:r>
        </a:p>
      </dgm:t>
    </dgm:pt>
    <dgm:pt modelId="{57B7BEC2-D6FB-4956-B42B-CB2BBE0E1BFB}" type="parTrans" cxnId="{7CB70C99-29C8-463F-8F6F-78C1825AE0DA}">
      <dgm:prSet/>
      <dgm:spPr/>
      <dgm:t>
        <a:bodyPr/>
        <a:lstStyle/>
        <a:p>
          <a:endParaRPr lang="en-US"/>
        </a:p>
      </dgm:t>
    </dgm:pt>
    <dgm:pt modelId="{353D2BE9-130A-41AC-96BB-D7376BE27FAC}" type="sibTrans" cxnId="{7CB70C99-29C8-463F-8F6F-78C1825AE0DA}">
      <dgm:prSet/>
      <dgm:spPr/>
      <dgm:t>
        <a:bodyPr/>
        <a:lstStyle/>
        <a:p>
          <a:endParaRPr lang="en-US"/>
        </a:p>
      </dgm:t>
    </dgm:pt>
    <dgm:pt modelId="{9BAB3372-70FE-4855-823C-59CD508BF2F1}">
      <dgm:prSet/>
      <dgm:spPr/>
      <dgm:t>
        <a:bodyPr/>
        <a:lstStyle/>
        <a:p>
          <a:r>
            <a:rPr lang="en-US"/>
            <a:t>Split data into training and testing sets (80/20) </a:t>
          </a:r>
        </a:p>
      </dgm:t>
    </dgm:pt>
    <dgm:pt modelId="{9F87F17F-9C98-4A3E-8882-720A806E7738}" type="parTrans" cxnId="{E5B8720E-CE2B-41A3-9A2D-CEA5158AAFFE}">
      <dgm:prSet/>
      <dgm:spPr/>
      <dgm:t>
        <a:bodyPr/>
        <a:lstStyle/>
        <a:p>
          <a:endParaRPr lang="en-US"/>
        </a:p>
      </dgm:t>
    </dgm:pt>
    <dgm:pt modelId="{9F056104-F521-4759-A768-778A2D507A6C}" type="sibTrans" cxnId="{E5B8720E-CE2B-41A3-9A2D-CEA5158AAFFE}">
      <dgm:prSet/>
      <dgm:spPr/>
      <dgm:t>
        <a:bodyPr/>
        <a:lstStyle/>
        <a:p>
          <a:endParaRPr lang="en-US"/>
        </a:p>
      </dgm:t>
    </dgm:pt>
    <dgm:pt modelId="{D331E496-13C8-4727-9AFF-824BD2504EE3}">
      <dgm:prSet/>
      <dgm:spPr/>
      <dgm:t>
        <a:bodyPr/>
        <a:lstStyle/>
        <a:p>
          <a:r>
            <a:rPr lang="en-US"/>
            <a:t>Prepared data for regression modeling</a:t>
          </a:r>
        </a:p>
      </dgm:t>
    </dgm:pt>
    <dgm:pt modelId="{FE347745-EAE8-4A27-9531-0B2CA5F95108}" type="parTrans" cxnId="{D8AD1D5D-68D3-40B3-8E92-6792B8267437}">
      <dgm:prSet/>
      <dgm:spPr/>
      <dgm:t>
        <a:bodyPr/>
        <a:lstStyle/>
        <a:p>
          <a:endParaRPr lang="en-US"/>
        </a:p>
      </dgm:t>
    </dgm:pt>
    <dgm:pt modelId="{771DBAF7-61FA-4438-B484-E9D0341D9D19}" type="sibTrans" cxnId="{D8AD1D5D-68D3-40B3-8E92-6792B8267437}">
      <dgm:prSet/>
      <dgm:spPr/>
      <dgm:t>
        <a:bodyPr/>
        <a:lstStyle/>
        <a:p>
          <a:endParaRPr lang="en-US"/>
        </a:p>
      </dgm:t>
    </dgm:pt>
    <dgm:pt modelId="{29722255-12C5-4414-A764-648A0C624B69}" type="pres">
      <dgm:prSet presAssocID="{FF1C1E0E-F67E-48AD-A930-44BED7DBF2DD}" presName="linear" presStyleCnt="0">
        <dgm:presLayoutVars>
          <dgm:animLvl val="lvl"/>
          <dgm:resizeHandles val="exact"/>
        </dgm:presLayoutVars>
      </dgm:prSet>
      <dgm:spPr/>
    </dgm:pt>
    <dgm:pt modelId="{3B7C2207-7817-4406-A9C2-BB2C7FE6D4FF}" type="pres">
      <dgm:prSet presAssocID="{7C4105F3-009B-4250-8C86-1EABC546F74E}" presName="parentText" presStyleLbl="node1" presStyleIdx="0" presStyleCnt="4">
        <dgm:presLayoutVars>
          <dgm:chMax val="0"/>
          <dgm:bulletEnabled val="1"/>
        </dgm:presLayoutVars>
      </dgm:prSet>
      <dgm:spPr/>
    </dgm:pt>
    <dgm:pt modelId="{911C66D6-B6E4-4326-9098-1D0E873D3990}" type="pres">
      <dgm:prSet presAssocID="{6CFFA2E4-E655-4FFC-B8BA-7013394C0541}" presName="spacer" presStyleCnt="0"/>
      <dgm:spPr/>
    </dgm:pt>
    <dgm:pt modelId="{8C31588B-8335-4F80-A45C-9CBB2A3CE6FD}" type="pres">
      <dgm:prSet presAssocID="{BAFBFD94-AF34-4640-B493-04CFBD36A361}" presName="parentText" presStyleLbl="node1" presStyleIdx="1" presStyleCnt="4">
        <dgm:presLayoutVars>
          <dgm:chMax val="0"/>
          <dgm:bulletEnabled val="1"/>
        </dgm:presLayoutVars>
      </dgm:prSet>
      <dgm:spPr/>
    </dgm:pt>
    <dgm:pt modelId="{372491FE-18D6-4E13-8A15-E307164891D9}" type="pres">
      <dgm:prSet presAssocID="{353D2BE9-130A-41AC-96BB-D7376BE27FAC}" presName="spacer" presStyleCnt="0"/>
      <dgm:spPr/>
    </dgm:pt>
    <dgm:pt modelId="{B991D53C-3713-4E01-84CA-0A5ADA6D3BE7}" type="pres">
      <dgm:prSet presAssocID="{9BAB3372-70FE-4855-823C-59CD508BF2F1}" presName="parentText" presStyleLbl="node1" presStyleIdx="2" presStyleCnt="4">
        <dgm:presLayoutVars>
          <dgm:chMax val="0"/>
          <dgm:bulletEnabled val="1"/>
        </dgm:presLayoutVars>
      </dgm:prSet>
      <dgm:spPr/>
    </dgm:pt>
    <dgm:pt modelId="{D2EA5077-DCD4-4785-9150-9F7F42D11AAF}" type="pres">
      <dgm:prSet presAssocID="{9F056104-F521-4759-A768-778A2D507A6C}" presName="spacer" presStyleCnt="0"/>
      <dgm:spPr/>
    </dgm:pt>
    <dgm:pt modelId="{CFE724AE-03A0-43A9-92E7-9C7F2A35E807}" type="pres">
      <dgm:prSet presAssocID="{D331E496-13C8-4727-9AFF-824BD2504EE3}" presName="parentText" presStyleLbl="node1" presStyleIdx="3" presStyleCnt="4">
        <dgm:presLayoutVars>
          <dgm:chMax val="0"/>
          <dgm:bulletEnabled val="1"/>
        </dgm:presLayoutVars>
      </dgm:prSet>
      <dgm:spPr/>
    </dgm:pt>
  </dgm:ptLst>
  <dgm:cxnLst>
    <dgm:cxn modelId="{DAB9ED06-E444-42C7-893A-33ACE4EF61C9}" srcId="{FF1C1E0E-F67E-48AD-A930-44BED7DBF2DD}" destId="{7C4105F3-009B-4250-8C86-1EABC546F74E}" srcOrd="0" destOrd="0" parTransId="{E09A47A7-4371-4A55-9BA7-970C1DC31B46}" sibTransId="{6CFFA2E4-E655-4FFC-B8BA-7013394C0541}"/>
    <dgm:cxn modelId="{54755A09-D174-4038-9890-7E243F98417C}" type="presOf" srcId="{FF1C1E0E-F67E-48AD-A930-44BED7DBF2DD}" destId="{29722255-12C5-4414-A764-648A0C624B69}" srcOrd="0" destOrd="0" presId="urn:microsoft.com/office/officeart/2005/8/layout/vList2"/>
    <dgm:cxn modelId="{E5B8720E-CE2B-41A3-9A2D-CEA5158AAFFE}" srcId="{FF1C1E0E-F67E-48AD-A930-44BED7DBF2DD}" destId="{9BAB3372-70FE-4855-823C-59CD508BF2F1}" srcOrd="2" destOrd="0" parTransId="{9F87F17F-9C98-4A3E-8882-720A806E7738}" sibTransId="{9F056104-F521-4759-A768-778A2D507A6C}"/>
    <dgm:cxn modelId="{35E7BF25-D3A9-4819-BB56-6DA7B4249970}" type="presOf" srcId="{BAFBFD94-AF34-4640-B493-04CFBD36A361}" destId="{8C31588B-8335-4F80-A45C-9CBB2A3CE6FD}" srcOrd="0" destOrd="0" presId="urn:microsoft.com/office/officeart/2005/8/layout/vList2"/>
    <dgm:cxn modelId="{D8AD1D5D-68D3-40B3-8E92-6792B8267437}" srcId="{FF1C1E0E-F67E-48AD-A930-44BED7DBF2DD}" destId="{D331E496-13C8-4727-9AFF-824BD2504EE3}" srcOrd="3" destOrd="0" parTransId="{FE347745-EAE8-4A27-9531-0B2CA5F95108}" sibTransId="{771DBAF7-61FA-4438-B484-E9D0341D9D19}"/>
    <dgm:cxn modelId="{D6674053-2ED1-4E34-BCA3-25E1B3FCAC4D}" type="presOf" srcId="{7C4105F3-009B-4250-8C86-1EABC546F74E}" destId="{3B7C2207-7817-4406-A9C2-BB2C7FE6D4FF}" srcOrd="0" destOrd="0" presId="urn:microsoft.com/office/officeart/2005/8/layout/vList2"/>
    <dgm:cxn modelId="{B4E2267E-FD7F-4B2F-A37A-DA1C645A312D}" type="presOf" srcId="{D331E496-13C8-4727-9AFF-824BD2504EE3}" destId="{CFE724AE-03A0-43A9-92E7-9C7F2A35E807}" srcOrd="0" destOrd="0" presId="urn:microsoft.com/office/officeart/2005/8/layout/vList2"/>
    <dgm:cxn modelId="{7CB70C99-29C8-463F-8F6F-78C1825AE0DA}" srcId="{FF1C1E0E-F67E-48AD-A930-44BED7DBF2DD}" destId="{BAFBFD94-AF34-4640-B493-04CFBD36A361}" srcOrd="1" destOrd="0" parTransId="{57B7BEC2-D6FB-4956-B42B-CB2BBE0E1BFB}" sibTransId="{353D2BE9-130A-41AC-96BB-D7376BE27FAC}"/>
    <dgm:cxn modelId="{4BC3D5B6-0081-476B-9C5A-AE9BC2734135}" type="presOf" srcId="{9BAB3372-70FE-4855-823C-59CD508BF2F1}" destId="{B991D53C-3713-4E01-84CA-0A5ADA6D3BE7}" srcOrd="0" destOrd="0" presId="urn:microsoft.com/office/officeart/2005/8/layout/vList2"/>
    <dgm:cxn modelId="{EBDDE469-5D7C-4690-AC3B-FDA3D97EF160}" type="presParOf" srcId="{29722255-12C5-4414-A764-648A0C624B69}" destId="{3B7C2207-7817-4406-A9C2-BB2C7FE6D4FF}" srcOrd="0" destOrd="0" presId="urn:microsoft.com/office/officeart/2005/8/layout/vList2"/>
    <dgm:cxn modelId="{00CB9334-28A9-406B-A3F4-FB7E44DA98C7}" type="presParOf" srcId="{29722255-12C5-4414-A764-648A0C624B69}" destId="{911C66D6-B6E4-4326-9098-1D0E873D3990}" srcOrd="1" destOrd="0" presId="urn:microsoft.com/office/officeart/2005/8/layout/vList2"/>
    <dgm:cxn modelId="{0D9CDB27-7CE8-41C2-A184-1052A6D2F4E8}" type="presParOf" srcId="{29722255-12C5-4414-A764-648A0C624B69}" destId="{8C31588B-8335-4F80-A45C-9CBB2A3CE6FD}" srcOrd="2" destOrd="0" presId="urn:microsoft.com/office/officeart/2005/8/layout/vList2"/>
    <dgm:cxn modelId="{8F6216F2-712B-4C97-853B-94EE64AE5D9A}" type="presParOf" srcId="{29722255-12C5-4414-A764-648A0C624B69}" destId="{372491FE-18D6-4E13-8A15-E307164891D9}" srcOrd="3" destOrd="0" presId="urn:microsoft.com/office/officeart/2005/8/layout/vList2"/>
    <dgm:cxn modelId="{F6968C9F-5C8D-4FBF-B832-01DBBB2B10C8}" type="presParOf" srcId="{29722255-12C5-4414-A764-648A0C624B69}" destId="{B991D53C-3713-4E01-84CA-0A5ADA6D3BE7}" srcOrd="4" destOrd="0" presId="urn:microsoft.com/office/officeart/2005/8/layout/vList2"/>
    <dgm:cxn modelId="{30694C07-9932-4F42-8720-9EF79F9D6225}" type="presParOf" srcId="{29722255-12C5-4414-A764-648A0C624B69}" destId="{D2EA5077-DCD4-4785-9150-9F7F42D11AAF}" srcOrd="5" destOrd="0" presId="urn:microsoft.com/office/officeart/2005/8/layout/vList2"/>
    <dgm:cxn modelId="{19DF18B1-1496-491F-AB0A-513CB93E3802}" type="presParOf" srcId="{29722255-12C5-4414-A764-648A0C624B69}" destId="{CFE724AE-03A0-43A9-92E7-9C7F2A35E80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06AEAC-B37F-4F3E-BDEC-3575C0E4B72D}">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DF4294-8137-4683-8872-38543A363B1B}">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Used car prices vary a lot </a:t>
          </a:r>
        </a:p>
      </dsp:txBody>
      <dsp:txXfrm>
        <a:off x="417971" y="2644140"/>
        <a:ext cx="2889450" cy="720000"/>
      </dsp:txXfrm>
    </dsp:sp>
    <dsp:sp modelId="{11DD40ED-242D-4F01-809F-DF026DF2B460}">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A3DDF9-F8F5-485D-BC91-210494735563}">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Hard to estimate fair value </a:t>
          </a:r>
        </a:p>
      </dsp:txBody>
      <dsp:txXfrm>
        <a:off x="3813075" y="2644140"/>
        <a:ext cx="2889450" cy="720000"/>
      </dsp:txXfrm>
    </dsp:sp>
    <dsp:sp modelId="{963DE1E7-E0F1-43C2-BE08-432FDE370C6F}">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E9C83A-8E21-4FB9-8723-E629D61811AF}">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Need data-driven prediction</a:t>
          </a:r>
        </a:p>
      </dsp:txBody>
      <dsp:txXfrm>
        <a:off x="7208178" y="2644140"/>
        <a:ext cx="28894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B524E-C8FC-48CA-8003-46B61EE5C27E}">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75F7BC-AF81-4534-9705-1CB0E536A88E}">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Helps buyers avoid overpaying </a:t>
          </a:r>
        </a:p>
      </dsp:txBody>
      <dsp:txXfrm>
        <a:off x="59990" y="2654049"/>
        <a:ext cx="3226223" cy="720000"/>
      </dsp:txXfrm>
    </dsp:sp>
    <dsp:sp modelId="{E8D16D92-8FED-48DE-B9E0-F722A9B01A1A}">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537256-352F-49D5-ADC8-55EFC4AF4D0D}">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Helps sellers price correctly </a:t>
          </a:r>
        </a:p>
      </dsp:txBody>
      <dsp:txXfrm>
        <a:off x="3850802" y="2654049"/>
        <a:ext cx="3226223" cy="720000"/>
      </dsp:txXfrm>
    </dsp:sp>
    <dsp:sp modelId="{16B82632-6D85-4687-8A8E-DE064591468E}">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B81986-F312-4735-A460-CD6C173D73EA}">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Real-world business value</a:t>
          </a:r>
        </a:p>
      </dsp:txBody>
      <dsp:txXfrm>
        <a:off x="7641615" y="2654049"/>
        <a:ext cx="3226223"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7C2207-7817-4406-A9C2-BB2C7FE6D4FF}">
      <dsp:nvSpPr>
        <dsp:cNvPr id="0" name=""/>
        <dsp:cNvSpPr/>
      </dsp:nvSpPr>
      <dsp:spPr>
        <a:xfrm>
          <a:off x="0" y="78669"/>
          <a:ext cx="5181600" cy="994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Filled missing values in service_history with “Unknown” </a:t>
          </a:r>
        </a:p>
      </dsp:txBody>
      <dsp:txXfrm>
        <a:off x="48547" y="127216"/>
        <a:ext cx="5084506" cy="897406"/>
      </dsp:txXfrm>
    </dsp:sp>
    <dsp:sp modelId="{8C31588B-8335-4F80-A45C-9CBB2A3CE6FD}">
      <dsp:nvSpPr>
        <dsp:cNvPr id="0" name=""/>
        <dsp:cNvSpPr/>
      </dsp:nvSpPr>
      <dsp:spPr>
        <a:xfrm>
          <a:off x="0" y="1145169"/>
          <a:ext cx="5181600" cy="994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Encoded categorical variables using LabelEncoder </a:t>
          </a:r>
        </a:p>
      </dsp:txBody>
      <dsp:txXfrm>
        <a:off x="48547" y="1193716"/>
        <a:ext cx="5084506" cy="897406"/>
      </dsp:txXfrm>
    </dsp:sp>
    <dsp:sp modelId="{B991D53C-3713-4E01-84CA-0A5ADA6D3BE7}">
      <dsp:nvSpPr>
        <dsp:cNvPr id="0" name=""/>
        <dsp:cNvSpPr/>
      </dsp:nvSpPr>
      <dsp:spPr>
        <a:xfrm>
          <a:off x="0" y="2211669"/>
          <a:ext cx="5181600" cy="994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Split data into training and testing sets (80/20) </a:t>
          </a:r>
        </a:p>
      </dsp:txBody>
      <dsp:txXfrm>
        <a:off x="48547" y="2260216"/>
        <a:ext cx="5084506" cy="897406"/>
      </dsp:txXfrm>
    </dsp:sp>
    <dsp:sp modelId="{CFE724AE-03A0-43A9-92E7-9C7F2A35E807}">
      <dsp:nvSpPr>
        <dsp:cNvPr id="0" name=""/>
        <dsp:cNvSpPr/>
      </dsp:nvSpPr>
      <dsp:spPr>
        <a:xfrm>
          <a:off x="0" y="3278169"/>
          <a:ext cx="5181600" cy="9945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Prepared data for regression modeling</a:t>
          </a:r>
        </a:p>
      </dsp:txBody>
      <dsp:txXfrm>
        <a:off x="48547" y="3326716"/>
        <a:ext cx="5084506" cy="89740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52605E-9C95-43BE-8E0D-BD374FAD18A3}" type="datetimeFigureOut">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B2E84-FCB6-4039-98C8-672A26DB7BB3}" type="slidenum">
              <a:t>‹#›</a:t>
            </a:fld>
            <a:endParaRPr lang="en-US"/>
          </a:p>
        </p:txBody>
      </p:sp>
    </p:spTree>
    <p:extLst>
      <p:ext uri="{BB962C8B-B14F-4D97-AF65-F5344CB8AC3E}">
        <p14:creationId xmlns:p14="http://schemas.microsoft.com/office/powerpoint/2010/main" val="2066975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37AB2E84-FCB6-4039-98C8-672A26DB7BB3}" type="slidenum">
              <a:rPr lang="en-US"/>
              <a:t>1</a:t>
            </a:fld>
            <a:endParaRPr lang="en-US"/>
          </a:p>
        </p:txBody>
      </p:sp>
    </p:spTree>
    <p:extLst>
      <p:ext uri="{BB962C8B-B14F-4D97-AF65-F5344CB8AC3E}">
        <p14:creationId xmlns:p14="http://schemas.microsoft.com/office/powerpoint/2010/main" val="2555013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778C0-5D07-183F-4CB9-9DF4A9376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FF585-2516-89C9-CF58-486278309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CD941-7263-266F-8498-84BC44EDDE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B04924-A929-67B8-EE4E-515E98C92B3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4884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2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58048B4-3F65-4EB9-ABA8-099353BE8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AE2FDE4-8ECB-4D0B-B871-D4EE52606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y cars lined up in a row on floor">
            <a:extLst>
              <a:ext uri="{FF2B5EF4-FFF2-40B4-BE49-F238E27FC236}">
                <a16:creationId xmlns:a16="http://schemas.microsoft.com/office/drawing/2014/main" id="{9F893662-B67B-0FA4-DCBF-FC20DEF30AE1}"/>
              </a:ext>
            </a:extLst>
          </p:cNvPr>
          <p:cNvPicPr>
            <a:picLocks noChangeAspect="1"/>
          </p:cNvPicPr>
          <p:nvPr/>
        </p:nvPicPr>
        <p:blipFill>
          <a:blip r:embed="rId3">
            <a:duotone>
              <a:prstClr val="black"/>
              <a:schemeClr val="bg1">
                <a:tint val="45000"/>
                <a:satMod val="400000"/>
              </a:schemeClr>
            </a:duotone>
            <a:alphaModFix amt="10000"/>
          </a:blip>
          <a:srcRect t="15413"/>
          <a:stretch>
            <a:fillRect/>
          </a:stretch>
        </p:blipFill>
        <p:spPr>
          <a:xfrm>
            <a:off x="-427953" y="521917"/>
            <a:ext cx="12191980" cy="6858000"/>
          </a:xfrm>
          <a:prstGeom prst="rect">
            <a:avLst/>
          </a:prstGeom>
        </p:spPr>
      </p:pic>
      <p:sp>
        <p:nvSpPr>
          <p:cNvPr id="2" name="Title 1"/>
          <p:cNvSpPr>
            <a:spLocks noGrp="1"/>
          </p:cNvSpPr>
          <p:nvPr>
            <p:ph type="ctrTitle"/>
          </p:nvPr>
        </p:nvSpPr>
        <p:spPr>
          <a:xfrm>
            <a:off x="732568" y="1169982"/>
            <a:ext cx="10530318" cy="2736390"/>
          </a:xfrm>
        </p:spPr>
        <p:txBody>
          <a:bodyPr anchor="b">
            <a:normAutofit/>
          </a:bodyPr>
          <a:lstStyle/>
          <a:p>
            <a:pPr algn="l"/>
            <a:r>
              <a:rPr lang="en-US" sz="7400">
                <a:solidFill>
                  <a:schemeClr val="tx2"/>
                </a:solidFill>
              </a:rPr>
              <a:t>Used Car Price Prediction </a:t>
            </a:r>
            <a:br>
              <a:rPr lang="en-US" sz="7400">
                <a:solidFill>
                  <a:schemeClr val="tx2"/>
                </a:solidFill>
              </a:rPr>
            </a:br>
            <a:r>
              <a:rPr lang="en-US" sz="7400">
                <a:solidFill>
                  <a:schemeClr val="tx2"/>
                </a:solidFill>
              </a:rPr>
              <a:t>Using Data Mining</a:t>
            </a:r>
          </a:p>
        </p:txBody>
      </p:sp>
      <p:sp>
        <p:nvSpPr>
          <p:cNvPr id="3" name="Subtitle 2"/>
          <p:cNvSpPr>
            <a:spLocks noGrp="1"/>
          </p:cNvSpPr>
          <p:nvPr>
            <p:ph type="subTitle" idx="1"/>
          </p:nvPr>
        </p:nvSpPr>
        <p:spPr>
          <a:xfrm>
            <a:off x="732567" y="4067745"/>
            <a:ext cx="10530318" cy="1949813"/>
          </a:xfrm>
        </p:spPr>
        <p:txBody>
          <a:bodyPr vert="horz" lIns="91440" tIns="45720" rIns="91440" bIns="45720" rtlCol="0" anchor="t">
            <a:normAutofit/>
          </a:bodyPr>
          <a:lstStyle/>
          <a:p>
            <a:pPr algn="l"/>
            <a:r>
              <a:rPr lang="en-US" sz="2200">
                <a:solidFill>
                  <a:schemeClr val="tx2"/>
                </a:solidFill>
              </a:rPr>
              <a:t>Joshua Custodio</a:t>
            </a:r>
          </a:p>
          <a:p>
            <a:pPr algn="l"/>
            <a:r>
              <a:rPr lang="en-US" sz="2200">
                <a:solidFill>
                  <a:schemeClr val="tx2"/>
                </a:solidFill>
              </a:rPr>
              <a:t>Joshua White</a:t>
            </a:r>
          </a:p>
          <a:p>
            <a:pPr algn="l"/>
            <a:r>
              <a:rPr lang="en-US" sz="2200">
                <a:solidFill>
                  <a:schemeClr val="tx2"/>
                </a:solidFill>
              </a:rPr>
              <a:t>CAP 4770 Data Mining</a:t>
            </a:r>
          </a:p>
        </p:txBody>
      </p:sp>
      <p:cxnSp>
        <p:nvCxnSpPr>
          <p:cNvPr id="27" name="Straight Connector 26">
            <a:extLst>
              <a:ext uri="{FF2B5EF4-FFF2-40B4-BE49-F238E27FC236}">
                <a16:creationId xmlns:a16="http://schemas.microsoft.com/office/drawing/2014/main" id="{3C86DB23-FEFE-4C3A-88FA-8E855AB1E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BB22FAF-4B4F-40B1-97FF-67CD036C89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18488D89-E3BB-4E60-BF44-5F0BE92E3F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32" name="Straight Connector 31">
              <a:extLst>
                <a:ext uri="{FF2B5EF4-FFF2-40B4-BE49-F238E27FC236}">
                  <a16:creationId xmlns:a16="http://schemas.microsoft.com/office/drawing/2014/main" id="{98FA7B87-C151-46CF-9E07-DD4FD97175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99EB480-500C-4A3E-BED3-513B88DB01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E385-D046-B3A2-436A-BD17CFF9C68E}"/>
              </a:ext>
            </a:extLst>
          </p:cNvPr>
          <p:cNvSpPr>
            <a:spLocks noGrp="1"/>
          </p:cNvSpPr>
          <p:nvPr>
            <p:ph type="title"/>
          </p:nvPr>
        </p:nvSpPr>
        <p:spPr/>
        <p:txBody>
          <a:bodyPr>
            <a:normAutofit/>
          </a:bodyPr>
          <a:lstStyle/>
          <a:p>
            <a:r>
              <a:rPr lang="en-US"/>
              <a:t>Problem </a:t>
            </a:r>
            <a:endParaRPr lang="en-US" dirty="0"/>
          </a:p>
        </p:txBody>
      </p:sp>
      <p:graphicFrame>
        <p:nvGraphicFramePr>
          <p:cNvPr id="5" name="Content Placeholder 2">
            <a:extLst>
              <a:ext uri="{FF2B5EF4-FFF2-40B4-BE49-F238E27FC236}">
                <a16:creationId xmlns:a16="http://schemas.microsoft.com/office/drawing/2014/main" id="{85EA8D15-6F78-D7E1-3EF5-EA06BD06882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0517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683DD-2321-07E5-014B-D755F04A6A4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Why it Matters</a:t>
            </a:r>
          </a:p>
        </p:txBody>
      </p:sp>
      <p:graphicFrame>
        <p:nvGraphicFramePr>
          <p:cNvPr id="5" name="Content Placeholder 2">
            <a:extLst>
              <a:ext uri="{FF2B5EF4-FFF2-40B4-BE49-F238E27FC236}">
                <a16:creationId xmlns:a16="http://schemas.microsoft.com/office/drawing/2014/main" id="{B234B718-60C4-4F3F-B04A-228C59A1BED0}"/>
              </a:ext>
            </a:extLst>
          </p:cNvPr>
          <p:cNvGraphicFramePr>
            <a:graphicFrameLocks noGrp="1"/>
          </p:cNvGraphicFramePr>
          <p:nvPr>
            <p:ph idx="1"/>
            <p:extLst>
              <p:ext uri="{D42A27DB-BD31-4B8C-83A1-F6EECF244321}">
                <p14:modId xmlns:p14="http://schemas.microsoft.com/office/powerpoint/2010/main" val="151318964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extBox 15">
            <a:extLst>
              <a:ext uri="{FF2B5EF4-FFF2-40B4-BE49-F238E27FC236}">
                <a16:creationId xmlns:a16="http://schemas.microsoft.com/office/drawing/2014/main" id="{240F07B8-0B20-BC2E-EC52-168000876F21}"/>
              </a:ext>
            </a:extLst>
          </p:cNvPr>
          <p:cNvSpPr txBox="1"/>
          <p:nvPr/>
        </p:nvSpPr>
        <p:spPr>
          <a:xfrm>
            <a:off x="644236" y="6040581"/>
            <a:ext cx="111044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goal of this project was to predict used car prices using vehicle features and compare model </a:t>
            </a:r>
            <a:r>
              <a:rPr lang="en-US">
                <a:ea typeface="+mn-lt"/>
                <a:cs typeface="+mn-lt"/>
              </a:rPr>
              <a:t>performance. This</a:t>
            </a:r>
            <a:r>
              <a:rPr lang="en-US" dirty="0">
                <a:ea typeface="+mn-lt"/>
                <a:cs typeface="+mn-lt"/>
              </a:rPr>
              <a:t> could help dealerships, sellers, or buyers estimate fair market value more consistently.</a:t>
            </a:r>
            <a:endParaRPr lang="en-US" dirty="0"/>
          </a:p>
        </p:txBody>
      </p:sp>
    </p:spTree>
    <p:extLst>
      <p:ext uri="{BB962C8B-B14F-4D97-AF65-F5344CB8AC3E}">
        <p14:creationId xmlns:p14="http://schemas.microsoft.com/office/powerpoint/2010/main" val="493272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3BBFE1-6298-081D-DA61-85B6F458F64A}"/>
              </a:ext>
            </a:extLst>
          </p:cNvPr>
          <p:cNvSpPr>
            <a:spLocks noGrp="1"/>
          </p:cNvSpPr>
          <p:nvPr>
            <p:ph type="title"/>
          </p:nvPr>
        </p:nvSpPr>
        <p:spPr>
          <a:xfrm>
            <a:off x="1452656" y="1444741"/>
            <a:ext cx="9357865" cy="1041901"/>
          </a:xfrm>
        </p:spPr>
        <p:txBody>
          <a:bodyPr vert="horz" lIns="91440" tIns="45720" rIns="91440" bIns="45720" rtlCol="0" anchor="ctr">
            <a:normAutofit/>
          </a:bodyPr>
          <a:lstStyle/>
          <a:p>
            <a:r>
              <a:rPr lang="en-US" sz="4000" kern="1200">
                <a:solidFill>
                  <a:schemeClr val="tx1"/>
                </a:solidFill>
                <a:latin typeface="+mj-lt"/>
                <a:ea typeface="+mj-ea"/>
                <a:cs typeface="+mj-cs"/>
              </a:rPr>
              <a:t>Dataset</a:t>
            </a:r>
          </a:p>
        </p:txBody>
      </p:sp>
      <p:sp>
        <p:nvSpPr>
          <p:cNvPr id="3" name="Content Placeholder 2">
            <a:extLst>
              <a:ext uri="{FF2B5EF4-FFF2-40B4-BE49-F238E27FC236}">
                <a16:creationId xmlns:a16="http://schemas.microsoft.com/office/drawing/2014/main" id="{DAA3593E-C81D-AFE6-FC53-AC2788CDAB88}"/>
              </a:ext>
            </a:extLst>
          </p:cNvPr>
          <p:cNvSpPr>
            <a:spLocks noGrp="1"/>
          </p:cNvSpPr>
          <p:nvPr>
            <p:ph idx="1"/>
          </p:nvPr>
        </p:nvSpPr>
        <p:spPr>
          <a:xfrm>
            <a:off x="1452656" y="2701427"/>
            <a:ext cx="4483324" cy="2699968"/>
          </a:xfrm>
        </p:spPr>
        <p:txBody>
          <a:bodyPr vert="horz" lIns="91440" tIns="45720" rIns="91440" bIns="45720" rtlCol="0">
            <a:normAutofit/>
          </a:bodyPr>
          <a:lstStyle/>
          <a:p>
            <a:r>
              <a:rPr lang="en-US" sz="2000"/>
              <a:t>Source: Kaggle Used Car Price Dataset Extended </a:t>
            </a:r>
          </a:p>
          <a:p>
            <a:r>
              <a:rPr lang="en-US" sz="2000"/>
              <a:t>10,000 records </a:t>
            </a:r>
          </a:p>
          <a:p>
            <a:r>
              <a:rPr lang="en-US" sz="2000"/>
              <a:t>12 features </a:t>
            </a:r>
          </a:p>
          <a:p>
            <a:r>
              <a:rPr lang="en-US" sz="2000"/>
              <a:t>Target variable: </a:t>
            </a:r>
            <a:r>
              <a:rPr lang="en-US" sz="2000" err="1"/>
              <a:t>price_usd</a:t>
            </a:r>
          </a:p>
          <a:p>
            <a:endParaRPr lang="en-US" sz="2000"/>
          </a:p>
          <a:p>
            <a:endParaRPr lang="en-US" sz="2000"/>
          </a:p>
        </p:txBody>
      </p:sp>
      <p:sp>
        <p:nvSpPr>
          <p:cNvPr id="4" name="TextBox 3">
            <a:extLst>
              <a:ext uri="{FF2B5EF4-FFF2-40B4-BE49-F238E27FC236}">
                <a16:creationId xmlns:a16="http://schemas.microsoft.com/office/drawing/2014/main" id="{DDBBD33D-A6F9-89DC-3544-16D8FED4D80B}"/>
              </a:ext>
            </a:extLst>
          </p:cNvPr>
          <p:cNvSpPr txBox="1"/>
          <p:nvPr/>
        </p:nvSpPr>
        <p:spPr>
          <a:xfrm>
            <a:off x="6436128" y="2486682"/>
            <a:ext cx="4554501" cy="26999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Aft>
                <a:spcPts val="600"/>
              </a:spcAft>
            </a:pPr>
            <a:r>
              <a:rPr lang="en-US" sz="2000">
                <a:ea typeface="+mn-lt"/>
                <a:cs typeface="+mn-lt"/>
              </a:rPr>
              <a:t>We used a Kaggle used car dataset with 10,000 records and 12 features. Our target variable was price in U.S. dollars. Some of the main features included make year, engine size, fuel efficiency, fuel type, owner count, and transmission</a:t>
            </a:r>
            <a:endParaRPr lang="en-US" sz="2000"/>
          </a:p>
        </p:txBody>
      </p:sp>
      <p:sp>
        <p:nvSpPr>
          <p:cNvPr id="5" name="TextBox 4">
            <a:extLst>
              <a:ext uri="{FF2B5EF4-FFF2-40B4-BE49-F238E27FC236}">
                <a16:creationId xmlns:a16="http://schemas.microsoft.com/office/drawing/2014/main" id="{E1B81A1F-E55C-5AB9-ECC6-0B0FB7D65562}"/>
              </a:ext>
            </a:extLst>
          </p:cNvPr>
          <p:cNvSpPr txBox="1"/>
          <p:nvPr/>
        </p:nvSpPr>
        <p:spPr>
          <a:xfrm>
            <a:off x="1454727" y="4502727"/>
            <a:ext cx="241761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ea typeface="+mn-lt"/>
                <a:cs typeface="+mn-lt"/>
              </a:rPr>
              <a:t>Example features</a:t>
            </a:r>
            <a:endParaRPr lang="en-US" sz="1200"/>
          </a:p>
          <a:p>
            <a:pPr marL="285750" indent="-285750">
              <a:buFont typeface="Arial"/>
              <a:buChar char="•"/>
            </a:pPr>
            <a:r>
              <a:rPr lang="en-US" sz="1200" err="1">
                <a:ea typeface="+mn-lt"/>
                <a:cs typeface="+mn-lt"/>
              </a:rPr>
              <a:t>make_year</a:t>
            </a:r>
            <a:r>
              <a:rPr lang="en-US" sz="1200">
                <a:ea typeface="+mn-lt"/>
                <a:cs typeface="+mn-lt"/>
              </a:rPr>
              <a:t> </a:t>
            </a:r>
            <a:endParaRPr lang="en-US" sz="1200"/>
          </a:p>
          <a:p>
            <a:pPr marL="285750" indent="-285750">
              <a:buFont typeface="Arial"/>
              <a:buChar char="•"/>
            </a:pPr>
            <a:r>
              <a:rPr lang="en-US" sz="1200" err="1">
                <a:ea typeface="+mn-lt"/>
                <a:cs typeface="+mn-lt"/>
              </a:rPr>
              <a:t>engine_cc</a:t>
            </a:r>
            <a:r>
              <a:rPr lang="en-US" sz="1200">
                <a:ea typeface="+mn-lt"/>
                <a:cs typeface="+mn-lt"/>
              </a:rPr>
              <a:t> </a:t>
            </a:r>
            <a:endParaRPr lang="en-US" sz="1200"/>
          </a:p>
          <a:p>
            <a:pPr marL="285750" indent="-285750">
              <a:buFont typeface="Arial"/>
              <a:buChar char="•"/>
            </a:pPr>
            <a:r>
              <a:rPr lang="en-US" sz="1200" err="1">
                <a:ea typeface="+mn-lt"/>
                <a:cs typeface="+mn-lt"/>
              </a:rPr>
              <a:t>mileage_kmpl</a:t>
            </a:r>
            <a:r>
              <a:rPr lang="en-US" sz="1200">
                <a:ea typeface="+mn-lt"/>
                <a:cs typeface="+mn-lt"/>
              </a:rPr>
              <a:t> </a:t>
            </a:r>
            <a:endParaRPr lang="en-US" sz="1200"/>
          </a:p>
          <a:p>
            <a:pPr marL="285750" indent="-285750">
              <a:buFont typeface="Arial"/>
              <a:buChar char="•"/>
            </a:pPr>
            <a:r>
              <a:rPr lang="en-US" sz="1200" err="1">
                <a:ea typeface="+mn-lt"/>
                <a:cs typeface="+mn-lt"/>
              </a:rPr>
              <a:t>fuel_type</a:t>
            </a:r>
            <a:r>
              <a:rPr lang="en-US" sz="1200">
                <a:ea typeface="+mn-lt"/>
                <a:cs typeface="+mn-lt"/>
              </a:rPr>
              <a:t> </a:t>
            </a:r>
            <a:endParaRPr lang="en-US" sz="1200"/>
          </a:p>
          <a:p>
            <a:pPr marL="285750" indent="-285750">
              <a:buFont typeface="Arial"/>
              <a:buChar char="•"/>
            </a:pPr>
            <a:r>
              <a:rPr lang="en-US" sz="1200" err="1">
                <a:ea typeface="+mn-lt"/>
                <a:cs typeface="+mn-lt"/>
              </a:rPr>
              <a:t>owner_count</a:t>
            </a:r>
            <a:r>
              <a:rPr lang="en-US" sz="1200">
                <a:ea typeface="+mn-lt"/>
                <a:cs typeface="+mn-lt"/>
              </a:rPr>
              <a:t> </a:t>
            </a:r>
            <a:endParaRPr lang="en-US" sz="1200"/>
          </a:p>
          <a:p>
            <a:pPr marL="285750" indent="-285750">
              <a:buFont typeface="Arial"/>
              <a:buChar char="•"/>
            </a:pPr>
            <a:r>
              <a:rPr lang="en-US" sz="1200">
                <a:ea typeface="+mn-lt"/>
                <a:cs typeface="+mn-lt"/>
              </a:rPr>
              <a:t>transmission</a:t>
            </a:r>
            <a:endParaRPr lang="en-US" sz="1200"/>
          </a:p>
          <a:p>
            <a:pPr algn="l"/>
            <a:endParaRPr lang="en-US" sz="1200"/>
          </a:p>
        </p:txBody>
      </p:sp>
    </p:spTree>
    <p:extLst>
      <p:ext uri="{BB962C8B-B14F-4D97-AF65-F5344CB8AC3E}">
        <p14:creationId xmlns:p14="http://schemas.microsoft.com/office/powerpoint/2010/main" val="174466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CE8F-7DB8-F215-CFA8-5923B6C0E010}"/>
              </a:ext>
            </a:extLst>
          </p:cNvPr>
          <p:cNvSpPr>
            <a:spLocks noGrp="1"/>
          </p:cNvSpPr>
          <p:nvPr>
            <p:ph type="title"/>
          </p:nvPr>
        </p:nvSpPr>
        <p:spPr/>
        <p:txBody>
          <a:bodyPr/>
          <a:lstStyle/>
          <a:p>
            <a:r>
              <a:rPr lang="en-US"/>
              <a:t>Data Preprocessing</a:t>
            </a:r>
          </a:p>
        </p:txBody>
      </p:sp>
      <p:sp>
        <p:nvSpPr>
          <p:cNvPr id="3" name="Content Placeholder 2">
            <a:extLst>
              <a:ext uri="{FF2B5EF4-FFF2-40B4-BE49-F238E27FC236}">
                <a16:creationId xmlns:a16="http://schemas.microsoft.com/office/drawing/2014/main" id="{27915F42-59A8-BC19-7CCD-1551E13D827B}"/>
              </a:ext>
            </a:extLst>
          </p:cNvPr>
          <p:cNvSpPr>
            <a:spLocks noGrp="1"/>
          </p:cNvSpPr>
          <p:nvPr>
            <p:ph sz="half" idx="1"/>
          </p:nvPr>
        </p:nvSpPr>
        <p:spPr/>
        <p:txBody>
          <a:bodyPr vert="horz" lIns="91440" tIns="45720" rIns="91440" bIns="45720" rtlCol="0" anchor="t">
            <a:normAutofit/>
          </a:bodyPr>
          <a:lstStyle/>
          <a:p>
            <a:pPr marL="0" indent="0">
              <a:buNone/>
            </a:pPr>
            <a:r>
              <a:rPr lang="en-US">
                <a:ea typeface="+mn-lt"/>
                <a:cs typeface="+mn-lt"/>
              </a:rPr>
              <a:t>Before modeling, we cleaned and prepared the data. We filled missing values in the service history column, encoded categorical variables into numbers, and then split the dataset into training and testing sets.</a:t>
            </a:r>
            <a:endParaRPr lang="en-US"/>
          </a:p>
        </p:txBody>
      </p:sp>
      <p:graphicFrame>
        <p:nvGraphicFramePr>
          <p:cNvPr id="8" name="Text Placeholder 3">
            <a:extLst>
              <a:ext uri="{FF2B5EF4-FFF2-40B4-BE49-F238E27FC236}">
                <a16:creationId xmlns:a16="http://schemas.microsoft.com/office/drawing/2014/main" id="{73887E07-6048-4AFD-9DD4-0C9193D296E9}"/>
              </a:ext>
            </a:extLst>
          </p:cNvPr>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378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E4569-943F-1821-785D-34E45F60EE06}"/>
              </a:ext>
            </a:extLst>
          </p:cNvPr>
          <p:cNvSpPr>
            <a:spLocks noGrp="1"/>
          </p:cNvSpPr>
          <p:nvPr>
            <p:ph type="title"/>
          </p:nvPr>
        </p:nvSpPr>
        <p:spPr>
          <a:xfrm>
            <a:off x="1452656" y="1444741"/>
            <a:ext cx="9357865" cy="1041901"/>
          </a:xfrm>
        </p:spPr>
        <p:txBody>
          <a:bodyPr>
            <a:normAutofit/>
          </a:bodyPr>
          <a:lstStyle/>
          <a:p>
            <a:r>
              <a:rPr lang="en-US" sz="4000"/>
              <a:t>Models Used</a:t>
            </a:r>
          </a:p>
        </p:txBody>
      </p:sp>
      <p:sp>
        <p:nvSpPr>
          <p:cNvPr id="20" name="Content Placeholder 2">
            <a:extLst>
              <a:ext uri="{FF2B5EF4-FFF2-40B4-BE49-F238E27FC236}">
                <a16:creationId xmlns:a16="http://schemas.microsoft.com/office/drawing/2014/main" id="{6CFC3C22-7230-9698-0940-8B8FF241212B}"/>
              </a:ext>
            </a:extLst>
          </p:cNvPr>
          <p:cNvSpPr>
            <a:spLocks noGrp="1"/>
          </p:cNvSpPr>
          <p:nvPr>
            <p:ph sz="half" idx="1"/>
          </p:nvPr>
        </p:nvSpPr>
        <p:spPr>
          <a:xfrm>
            <a:off x="1452656" y="2282952"/>
            <a:ext cx="4483324" cy="3118443"/>
          </a:xfrm>
        </p:spPr>
        <p:txBody>
          <a:bodyPr vert="horz" lIns="91440" tIns="45720" rIns="91440" bIns="45720" rtlCol="0" anchor="t">
            <a:normAutofit/>
          </a:bodyPr>
          <a:lstStyle/>
          <a:p>
            <a:r>
              <a:rPr lang="en-US" sz="1900"/>
              <a:t>Linear Regression</a:t>
            </a:r>
          </a:p>
          <a:p>
            <a:r>
              <a:rPr lang="en-US" sz="1900"/>
              <a:t>Random Forest Regressor</a:t>
            </a:r>
          </a:p>
          <a:p>
            <a:endParaRPr lang="en-US" sz="1900"/>
          </a:p>
          <a:p>
            <a:pPr marL="0" indent="0">
              <a:buNone/>
            </a:pPr>
            <a:r>
              <a:rPr lang="en-US" sz="4000">
                <a:latin typeface="+mj-lt"/>
                <a:ea typeface="+mj-ea"/>
                <a:cs typeface="+mj-cs"/>
              </a:rPr>
              <a:t>Evaluation Metrics</a:t>
            </a:r>
          </a:p>
          <a:p>
            <a:r>
              <a:rPr lang="en-US" sz="1900"/>
              <a:t>MAE</a:t>
            </a:r>
          </a:p>
          <a:p>
            <a:r>
              <a:rPr lang="en-US" sz="1900"/>
              <a:t>RMSE </a:t>
            </a:r>
          </a:p>
          <a:p>
            <a:r>
              <a:rPr lang="en-US" sz="1900"/>
              <a:t>R²</a:t>
            </a:r>
          </a:p>
          <a:p>
            <a:endParaRPr lang="en-US" sz="1900"/>
          </a:p>
          <a:p>
            <a:endParaRPr lang="en-US" sz="1900"/>
          </a:p>
        </p:txBody>
      </p:sp>
      <p:sp>
        <p:nvSpPr>
          <p:cNvPr id="4" name="Content Placeholder 3">
            <a:extLst>
              <a:ext uri="{FF2B5EF4-FFF2-40B4-BE49-F238E27FC236}">
                <a16:creationId xmlns:a16="http://schemas.microsoft.com/office/drawing/2014/main" id="{420626E2-DEF4-B0D4-E34A-D6BCA733CEFC}"/>
              </a:ext>
            </a:extLst>
          </p:cNvPr>
          <p:cNvSpPr>
            <a:spLocks noGrp="1"/>
          </p:cNvSpPr>
          <p:nvPr>
            <p:ph sz="half" idx="2"/>
          </p:nvPr>
        </p:nvSpPr>
        <p:spPr>
          <a:xfrm>
            <a:off x="6256020" y="2701427"/>
            <a:ext cx="4554501" cy="2699968"/>
          </a:xfrm>
        </p:spPr>
        <p:txBody>
          <a:bodyPr vert="horz" lIns="91440" tIns="45720" rIns="91440" bIns="45720" rtlCol="0" anchor="t">
            <a:normAutofit/>
          </a:bodyPr>
          <a:lstStyle/>
          <a:p>
            <a:pPr marL="0" indent="0">
              <a:buNone/>
            </a:pPr>
            <a:r>
              <a:rPr lang="en-US" sz="2000">
                <a:ea typeface="+mn-lt"/>
                <a:cs typeface="+mn-lt"/>
              </a:rPr>
              <a:t>We used two models: Linear Regression and Random Forest Regressor. We then compared them using Mean Absolute Error, Root Mean Squared Error, and </a:t>
            </a:r>
            <a:r>
              <a:rPr lang="en-US" sz="1900">
                <a:ea typeface="+mn-lt"/>
                <a:cs typeface="+mn-lt"/>
              </a:rPr>
              <a:t>R²</a:t>
            </a:r>
            <a:r>
              <a:rPr lang="en-US" sz="2000">
                <a:ea typeface="+mn-lt"/>
                <a:cs typeface="+mn-lt"/>
              </a:rPr>
              <a:t> to see which one performed better.</a:t>
            </a:r>
            <a:endParaRPr lang="en-US" sz="2000"/>
          </a:p>
        </p:txBody>
      </p:sp>
    </p:spTree>
    <p:extLst>
      <p:ext uri="{BB962C8B-B14F-4D97-AF65-F5344CB8AC3E}">
        <p14:creationId xmlns:p14="http://schemas.microsoft.com/office/powerpoint/2010/main" val="4145305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6324F"/>
          </a:solidFill>
          <a:ln w="12700">
            <a:solidFill>
              <a:srgbClr val="16324F">
                <a:alpha val="0"/>
              </a:srgbClr>
            </a:solidFill>
            <a:prstDash val="solid"/>
          </a:ln>
        </p:spPr>
        <p:txBody>
          <a:bodyPr/>
          <a:lstStyle/>
          <a:p>
            <a:endParaRPr lang="en-US"/>
          </a:p>
        </p:txBody>
      </p:sp>
      <p:sp>
        <p:nvSpPr>
          <p:cNvPr id="3" name="Shape 1"/>
          <p:cNvSpPr/>
          <p:nvPr/>
        </p:nvSpPr>
        <p:spPr>
          <a:xfrm>
            <a:off x="0" y="6565392"/>
            <a:ext cx="12191695" cy="292608"/>
          </a:xfrm>
          <a:prstGeom prst="rect">
            <a:avLst/>
          </a:prstGeom>
          <a:solidFill>
            <a:srgbClr val="F4A261"/>
          </a:solidFill>
          <a:ln w="12700">
            <a:solidFill>
              <a:srgbClr val="F4A261">
                <a:alpha val="0"/>
              </a:srgbClr>
            </a:solidFill>
            <a:prstDash val="solid"/>
          </a:ln>
        </p:spPr>
        <p:txBody>
          <a:bodyPr/>
          <a:lstStyle/>
          <a:p>
            <a:endParaRPr lang="en-US"/>
          </a:p>
        </p:txBody>
      </p:sp>
      <p:sp>
        <p:nvSpPr>
          <p:cNvPr id="4" name="Text 2"/>
          <p:cNvSpPr/>
          <p:nvPr/>
        </p:nvSpPr>
        <p:spPr>
          <a:xfrm>
            <a:off x="502920" y="566928"/>
            <a:ext cx="6858000" cy="310896"/>
          </a:xfrm>
          <a:prstGeom prst="rect">
            <a:avLst/>
          </a:prstGeom>
          <a:noFill/>
          <a:ln/>
        </p:spPr>
        <p:txBody>
          <a:bodyPr wrap="square" lIns="0" tIns="0" rIns="0" bIns="0" rtlCol="0" anchor="ctr"/>
          <a:lstStyle/>
          <a:p>
            <a:pPr marL="0" indent="0">
              <a:buNone/>
            </a:pPr>
            <a:r>
              <a:rPr lang="en-US" sz="2600" b="1">
                <a:solidFill>
                  <a:srgbClr val="16324F"/>
                </a:solidFill>
                <a:latin typeface="Aptos Display" pitchFamily="34" charset="0"/>
                <a:ea typeface="Aptos Display" pitchFamily="34" charset="-122"/>
                <a:cs typeface="Aptos Display" pitchFamily="34" charset="-120"/>
              </a:rPr>
              <a:t>Distribution of Used Car Prices</a:t>
            </a:r>
            <a:endParaRPr lang="en-US" sz="2600"/>
          </a:p>
        </p:txBody>
      </p:sp>
      <p:sp>
        <p:nvSpPr>
          <p:cNvPr id="5" name="Text 3"/>
          <p:cNvSpPr/>
          <p:nvPr/>
        </p:nvSpPr>
        <p:spPr>
          <a:xfrm>
            <a:off x="530352" y="969264"/>
            <a:ext cx="6217920" cy="164592"/>
          </a:xfrm>
          <a:prstGeom prst="rect">
            <a:avLst/>
          </a:prstGeom>
          <a:noFill/>
          <a:ln/>
        </p:spPr>
        <p:txBody>
          <a:bodyPr wrap="square" lIns="0" tIns="0" rIns="0" bIns="0" rtlCol="0" anchor="ctr"/>
          <a:lstStyle/>
          <a:p>
            <a:pPr marL="0" indent="0">
              <a:buNone/>
            </a:pPr>
            <a:r>
              <a:rPr lang="en-US" sz="1150">
                <a:solidFill>
                  <a:srgbClr val="5B6777"/>
                </a:solidFill>
              </a:rPr>
              <a:t>Histogram view of pricing spread across the sample</a:t>
            </a:r>
            <a:endParaRPr lang="en-US" sz="1150"/>
          </a:p>
        </p:txBody>
      </p:sp>
      <p:sp>
        <p:nvSpPr>
          <p:cNvPr id="6" name="Shape 4"/>
          <p:cNvSpPr/>
          <p:nvPr/>
        </p:nvSpPr>
        <p:spPr>
          <a:xfrm>
            <a:off x="548640" y="1325880"/>
            <a:ext cx="6583680" cy="4709160"/>
          </a:xfrm>
          <a:prstGeom prst="roundRect">
            <a:avLst>
              <a:gd name="adj" fmla="val 1553"/>
            </a:avLst>
          </a:prstGeom>
          <a:solidFill>
            <a:srgbClr val="FFFFFF"/>
          </a:solidFill>
          <a:ln w="12700">
            <a:solidFill>
              <a:srgbClr val="D7DEE8"/>
            </a:solidFill>
            <a:prstDash val="solid"/>
          </a:ln>
          <a:effectLst>
            <a:outerShdw blurRad="25400" dist="12700" dir="2700000" algn="bl" rotWithShape="0">
              <a:srgbClr val="000000">
                <a:alpha val="16000"/>
              </a:srgbClr>
            </a:outerShdw>
          </a:effectLst>
        </p:spPr>
        <p:txBody>
          <a:bodyPr/>
          <a:lstStyle/>
          <a:p>
            <a:endParaRPr lang="en-US"/>
          </a:p>
        </p:txBody>
      </p:sp>
      <p:sp>
        <p:nvSpPr>
          <p:cNvPr id="8" name="Text 5"/>
          <p:cNvSpPr/>
          <p:nvPr/>
        </p:nvSpPr>
        <p:spPr>
          <a:xfrm>
            <a:off x="7498080" y="1554480"/>
            <a:ext cx="3931920" cy="256032"/>
          </a:xfrm>
          <a:prstGeom prst="rect">
            <a:avLst/>
          </a:prstGeom>
          <a:noFill/>
          <a:ln/>
        </p:spPr>
        <p:txBody>
          <a:bodyPr wrap="square" lIns="0" tIns="0" rIns="0" bIns="0" rtlCol="0" anchor="ctr"/>
          <a:lstStyle/>
          <a:p>
            <a:pPr marL="0" indent="0">
              <a:buNone/>
            </a:pPr>
            <a:r>
              <a:rPr lang="en-US" sz="1700" b="1">
                <a:solidFill>
                  <a:srgbClr val="2B6CB0"/>
                </a:solidFill>
              </a:rPr>
              <a:t>Key observations</a:t>
            </a:r>
            <a:endParaRPr lang="en-US" sz="1700"/>
          </a:p>
        </p:txBody>
      </p:sp>
      <p:sp>
        <p:nvSpPr>
          <p:cNvPr id="9" name="Text 6"/>
          <p:cNvSpPr/>
          <p:nvPr/>
        </p:nvSpPr>
        <p:spPr>
          <a:xfrm>
            <a:off x="7498080" y="1874520"/>
            <a:ext cx="3931920" cy="2651760"/>
          </a:xfrm>
          <a:prstGeom prst="rect">
            <a:avLst/>
          </a:prstGeom>
          <a:noFill/>
          <a:ln/>
        </p:spPr>
        <p:txBody>
          <a:bodyPr wrap="square" lIns="254" tIns="254" rIns="254" bIns="254" rtlCol="0" anchor="t"/>
          <a:lstStyle/>
          <a:p>
            <a:pPr marL="177800" indent="-177800">
              <a:buSzPct val="100000"/>
              <a:buChar char="•"/>
            </a:pPr>
            <a:r>
              <a:rPr lang="en-US" sz="1600">
                <a:solidFill>
                  <a:srgbClr val="1F2937"/>
                </a:solidFill>
              </a:rPr>
              <a:t>The distribution is unimodal and slightly right-skewed, with the highest concentration around the mid-price range.
</a:t>
            </a:r>
            <a:endParaRPr lang="en-US" sz="1600"/>
          </a:p>
          <a:p>
            <a:pPr marL="177800" indent="-177800">
              <a:buSzPct val="100000"/>
              <a:buChar char="•"/>
            </a:pPr>
            <a:r>
              <a:rPr lang="en-US" sz="1600">
                <a:solidFill>
                  <a:srgbClr val="1F2937"/>
                </a:solidFill>
              </a:rPr>
              <a:t>Most vehicles appear to cluster roughly between about $4k and $11k, suggesting a strong mid-market segment.
</a:t>
            </a:r>
            <a:endParaRPr lang="en-US" sz="1600"/>
          </a:p>
          <a:p>
            <a:pPr marL="177800" indent="-177800">
              <a:buSzPct val="100000"/>
              <a:buChar char="•"/>
            </a:pPr>
            <a:r>
              <a:rPr lang="en-US" sz="1600">
                <a:solidFill>
                  <a:srgbClr val="1F2937"/>
                </a:solidFill>
              </a:rPr>
              <a:t>Higher-price vehicles exist, but they thin out quickly, creating a long tail toward the premium end.</a:t>
            </a:r>
            <a:endParaRPr lang="en-US" sz="1600"/>
          </a:p>
        </p:txBody>
      </p:sp>
      <p:sp>
        <p:nvSpPr>
          <p:cNvPr id="10" name="Text 7"/>
          <p:cNvSpPr/>
          <p:nvPr/>
        </p:nvSpPr>
        <p:spPr>
          <a:xfrm>
            <a:off x="7498080" y="4754880"/>
            <a:ext cx="1828800" cy="256032"/>
          </a:xfrm>
          <a:prstGeom prst="rect">
            <a:avLst/>
          </a:prstGeom>
          <a:noFill/>
          <a:ln/>
        </p:spPr>
        <p:txBody>
          <a:bodyPr wrap="square" lIns="0" tIns="0" rIns="0" bIns="0" rtlCol="0" anchor="ctr"/>
          <a:lstStyle/>
          <a:p>
            <a:pPr marL="0" indent="0">
              <a:buNone/>
            </a:pPr>
            <a:r>
              <a:rPr lang="en-US" sz="1700" b="1">
                <a:solidFill>
                  <a:srgbClr val="2B6CB0"/>
                </a:solidFill>
              </a:rPr>
              <a:t>Implication</a:t>
            </a:r>
            <a:endParaRPr lang="en-US" sz="1700"/>
          </a:p>
        </p:txBody>
      </p:sp>
      <p:sp>
        <p:nvSpPr>
          <p:cNvPr id="11" name="Text 8"/>
          <p:cNvSpPr/>
          <p:nvPr/>
        </p:nvSpPr>
        <p:spPr>
          <a:xfrm>
            <a:off x="7498080" y="5074920"/>
            <a:ext cx="3977640" cy="640080"/>
          </a:xfrm>
          <a:prstGeom prst="rect">
            <a:avLst/>
          </a:prstGeom>
          <a:noFill/>
          <a:ln/>
        </p:spPr>
        <p:txBody>
          <a:bodyPr wrap="square" lIns="0" tIns="0" rIns="0" bIns="0" rtlCol="0" anchor="ctr"/>
          <a:lstStyle/>
          <a:p>
            <a:pPr marL="0" indent="0">
              <a:buNone/>
            </a:pPr>
            <a:r>
              <a:rPr lang="en-US" sz="1600">
                <a:solidFill>
                  <a:srgbClr val="1F2937"/>
                </a:solidFill>
              </a:rPr>
              <a:t>Median-focused pricing strategies may be more representative than relying on the few expensive outliers.</a:t>
            </a:r>
            <a:endParaRPr lang="en-US" sz="1600"/>
          </a:p>
        </p:txBody>
      </p:sp>
      <p:sp>
        <p:nvSpPr>
          <p:cNvPr id="12" name="Text 9"/>
          <p:cNvSpPr/>
          <p:nvPr/>
        </p:nvSpPr>
        <p:spPr>
          <a:xfrm>
            <a:off x="8366760" y="6592824"/>
            <a:ext cx="3429000" cy="118872"/>
          </a:xfrm>
          <a:prstGeom prst="rect">
            <a:avLst/>
          </a:prstGeom>
          <a:noFill/>
          <a:ln/>
        </p:spPr>
        <p:txBody>
          <a:bodyPr wrap="square" lIns="0" tIns="0" rIns="0" bIns="0" rtlCol="0" anchor="ctr"/>
          <a:lstStyle/>
          <a:p>
            <a:pPr marL="0" indent="0" algn="r">
              <a:buNone/>
            </a:pPr>
            <a:r>
              <a:rPr lang="en-US" sz="850">
                <a:solidFill>
                  <a:srgbClr val="FFFFFF"/>
                </a:solidFill>
              </a:rPr>
              <a:t>Source: provided notebook screenshots</a:t>
            </a:r>
            <a:endParaRPr lang="en-US" sz="850"/>
          </a:p>
        </p:txBody>
      </p:sp>
      <p:pic>
        <p:nvPicPr>
          <p:cNvPr id="13" name="Picture 12" descr="A graph of a distribution of used car prices&#10;&#10;AI-generated content may be incorrect.">
            <a:extLst>
              <a:ext uri="{FF2B5EF4-FFF2-40B4-BE49-F238E27FC236}">
                <a16:creationId xmlns:a16="http://schemas.microsoft.com/office/drawing/2014/main" id="{8A1C9921-BCA3-A988-CBA0-1F2AF8763BC7}"/>
              </a:ext>
            </a:extLst>
          </p:cNvPr>
          <p:cNvPicPr>
            <a:picLocks noChangeAspect="1"/>
          </p:cNvPicPr>
          <p:nvPr/>
        </p:nvPicPr>
        <p:blipFill>
          <a:blip r:embed="rId3"/>
          <a:stretch>
            <a:fillRect/>
          </a:stretch>
        </p:blipFill>
        <p:spPr>
          <a:xfrm>
            <a:off x="1121843" y="1555620"/>
            <a:ext cx="5438775" cy="43338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6324F"/>
          </a:solidFill>
          <a:ln w="12700">
            <a:solidFill>
              <a:srgbClr val="16324F">
                <a:alpha val="0"/>
              </a:srgbClr>
            </a:solidFill>
            <a:prstDash val="solid"/>
          </a:ln>
        </p:spPr>
        <p:txBody>
          <a:bodyPr/>
          <a:lstStyle/>
          <a:p>
            <a:endParaRPr lang="en-US"/>
          </a:p>
        </p:txBody>
      </p:sp>
      <p:sp>
        <p:nvSpPr>
          <p:cNvPr id="3" name="Shape 1"/>
          <p:cNvSpPr/>
          <p:nvPr/>
        </p:nvSpPr>
        <p:spPr>
          <a:xfrm>
            <a:off x="0" y="6565392"/>
            <a:ext cx="12191695" cy="292608"/>
          </a:xfrm>
          <a:prstGeom prst="rect">
            <a:avLst/>
          </a:prstGeom>
          <a:solidFill>
            <a:srgbClr val="F4A261"/>
          </a:solidFill>
          <a:ln w="12700">
            <a:solidFill>
              <a:srgbClr val="F4A261">
                <a:alpha val="0"/>
              </a:srgbClr>
            </a:solidFill>
            <a:prstDash val="solid"/>
          </a:ln>
        </p:spPr>
        <p:txBody>
          <a:bodyPr/>
          <a:lstStyle/>
          <a:p>
            <a:endParaRPr lang="en-US"/>
          </a:p>
        </p:txBody>
      </p:sp>
      <p:sp>
        <p:nvSpPr>
          <p:cNvPr id="4" name="Text 2"/>
          <p:cNvSpPr/>
          <p:nvPr/>
        </p:nvSpPr>
        <p:spPr>
          <a:xfrm>
            <a:off x="502920" y="566928"/>
            <a:ext cx="6858000" cy="310896"/>
          </a:xfrm>
          <a:prstGeom prst="rect">
            <a:avLst/>
          </a:prstGeom>
          <a:noFill/>
          <a:ln/>
        </p:spPr>
        <p:txBody>
          <a:bodyPr wrap="square" lIns="0" tIns="0" rIns="0" bIns="0" rtlCol="0" anchor="ctr"/>
          <a:lstStyle/>
          <a:p>
            <a:pPr marL="0" indent="0">
              <a:buNone/>
            </a:pPr>
            <a:r>
              <a:rPr lang="en-US" sz="2600" b="1">
                <a:solidFill>
                  <a:srgbClr val="16324F"/>
                </a:solidFill>
                <a:latin typeface="Aptos Display" pitchFamily="34" charset="0"/>
                <a:ea typeface="Aptos Display" pitchFamily="34" charset="-122"/>
                <a:cs typeface="Aptos Display" pitchFamily="34" charset="-120"/>
              </a:rPr>
              <a:t>Average Price by Fuel Efficiency</a:t>
            </a:r>
            <a:endParaRPr lang="en-US" sz="2600"/>
          </a:p>
        </p:txBody>
      </p:sp>
      <p:sp>
        <p:nvSpPr>
          <p:cNvPr id="5" name="Text 3"/>
          <p:cNvSpPr/>
          <p:nvPr/>
        </p:nvSpPr>
        <p:spPr>
          <a:xfrm>
            <a:off x="530352" y="969264"/>
            <a:ext cx="6217920" cy="164592"/>
          </a:xfrm>
          <a:prstGeom prst="rect">
            <a:avLst/>
          </a:prstGeom>
          <a:noFill/>
          <a:ln/>
        </p:spPr>
        <p:txBody>
          <a:bodyPr wrap="square" lIns="0" tIns="0" rIns="0" bIns="0" rtlCol="0" anchor="ctr"/>
          <a:lstStyle/>
          <a:p>
            <a:pPr marL="0" indent="0">
              <a:buNone/>
            </a:pPr>
            <a:r>
              <a:rPr lang="en-US" sz="1150">
                <a:solidFill>
                  <a:srgbClr val="5B6777"/>
                </a:solidFill>
              </a:rPr>
              <a:t>Grouped bar chart comparing average selling price across mileage bands</a:t>
            </a:r>
            <a:endParaRPr lang="en-US" sz="1150"/>
          </a:p>
        </p:txBody>
      </p:sp>
      <p:sp>
        <p:nvSpPr>
          <p:cNvPr id="6" name="Shape 4"/>
          <p:cNvSpPr/>
          <p:nvPr/>
        </p:nvSpPr>
        <p:spPr>
          <a:xfrm>
            <a:off x="502920" y="1261872"/>
            <a:ext cx="6766560" cy="4892040"/>
          </a:xfrm>
          <a:prstGeom prst="roundRect">
            <a:avLst>
              <a:gd name="adj" fmla="val 1495"/>
            </a:avLst>
          </a:prstGeom>
          <a:solidFill>
            <a:srgbClr val="FFFFFF"/>
          </a:solidFill>
          <a:ln w="12700">
            <a:solidFill>
              <a:srgbClr val="D7DEE8"/>
            </a:solidFill>
            <a:prstDash val="solid"/>
          </a:ln>
          <a:effectLst>
            <a:outerShdw blurRad="25400" dist="12700" dir="2700000" algn="bl" rotWithShape="0">
              <a:srgbClr val="000000">
                <a:alpha val="16000"/>
              </a:srgbClr>
            </a:outerShdw>
          </a:effectLst>
        </p:spPr>
        <p:txBody>
          <a:bodyPr/>
          <a:lstStyle/>
          <a:p>
            <a:endParaRPr lang="en-US"/>
          </a:p>
        </p:txBody>
      </p:sp>
      <p:pic>
        <p:nvPicPr>
          <p:cNvPr id="7" name="Image 0" descr="/mnt/data/fuel_chart.png"/>
          <p:cNvPicPr>
            <a:picLocks noChangeAspect="1"/>
          </p:cNvPicPr>
          <p:nvPr/>
        </p:nvPicPr>
        <p:blipFill>
          <a:blip r:embed="rId3"/>
          <a:stretch>
            <a:fillRect/>
          </a:stretch>
        </p:blipFill>
        <p:spPr>
          <a:xfrm>
            <a:off x="1330804" y="1335024"/>
            <a:ext cx="5110793" cy="4745736"/>
          </a:xfrm>
          <a:prstGeom prst="rect">
            <a:avLst/>
          </a:prstGeom>
        </p:spPr>
      </p:pic>
      <p:sp>
        <p:nvSpPr>
          <p:cNvPr id="8" name="Text 5"/>
          <p:cNvSpPr/>
          <p:nvPr/>
        </p:nvSpPr>
        <p:spPr>
          <a:xfrm>
            <a:off x="7543800" y="1554480"/>
            <a:ext cx="3794760" cy="256032"/>
          </a:xfrm>
          <a:prstGeom prst="rect">
            <a:avLst/>
          </a:prstGeom>
          <a:noFill/>
          <a:ln/>
        </p:spPr>
        <p:txBody>
          <a:bodyPr wrap="square" lIns="0" tIns="0" rIns="0" bIns="0" rtlCol="0" anchor="ctr"/>
          <a:lstStyle/>
          <a:p>
            <a:pPr marL="0" indent="0">
              <a:buNone/>
            </a:pPr>
            <a:r>
              <a:rPr lang="en-US" sz="1700" b="1">
                <a:solidFill>
                  <a:srgbClr val="2B6CB0"/>
                </a:solidFill>
              </a:rPr>
              <a:t>Key observations</a:t>
            </a:r>
            <a:endParaRPr lang="en-US" sz="1700"/>
          </a:p>
        </p:txBody>
      </p:sp>
      <p:sp>
        <p:nvSpPr>
          <p:cNvPr id="9" name="Text 6"/>
          <p:cNvSpPr/>
          <p:nvPr/>
        </p:nvSpPr>
        <p:spPr>
          <a:xfrm>
            <a:off x="7543800" y="1874520"/>
            <a:ext cx="3794760" cy="2651760"/>
          </a:xfrm>
          <a:prstGeom prst="rect">
            <a:avLst/>
          </a:prstGeom>
          <a:noFill/>
          <a:ln/>
        </p:spPr>
        <p:txBody>
          <a:bodyPr wrap="square" lIns="254" tIns="254" rIns="254" bIns="254" rtlCol="0" anchor="t"/>
          <a:lstStyle/>
          <a:p>
            <a:pPr marL="177800" indent="-177800">
              <a:buSzPct val="100000"/>
              <a:buChar char="•"/>
            </a:pPr>
            <a:r>
              <a:rPr lang="en-US" sz="1600">
                <a:solidFill>
                  <a:srgbClr val="1F2937"/>
                </a:solidFill>
              </a:rPr>
              <a:t>Average price increases consistently as fuel efficiency improves.
</a:t>
            </a:r>
            <a:endParaRPr lang="en-US" sz="1600"/>
          </a:p>
          <a:p>
            <a:pPr marL="177800" indent="-177800">
              <a:buSzPct val="100000"/>
              <a:buChar char="•"/>
            </a:pPr>
            <a:r>
              <a:rPr lang="en-US" sz="1600">
                <a:solidFill>
                  <a:srgbClr val="1F2937"/>
                </a:solidFill>
              </a:rPr>
              <a:t>The highest-efficiency band has the strongest average price.
</a:t>
            </a:r>
            <a:endParaRPr lang="en-US" sz="1600"/>
          </a:p>
          <a:p>
            <a:pPr marL="177800" indent="-177800">
              <a:buSzPct val="100000"/>
              <a:buChar char="•"/>
            </a:pPr>
            <a:r>
              <a:rPr lang="en-US" sz="1600">
                <a:solidFill>
                  <a:srgbClr val="1F2937"/>
                </a:solidFill>
              </a:rPr>
              <a:t>No band reversal appears, so the relationship looks directional.</a:t>
            </a:r>
            <a:endParaRPr lang="en-US" sz="1600"/>
          </a:p>
        </p:txBody>
      </p:sp>
      <p:sp>
        <p:nvSpPr>
          <p:cNvPr id="10" name="Text 7"/>
          <p:cNvSpPr/>
          <p:nvPr/>
        </p:nvSpPr>
        <p:spPr>
          <a:xfrm>
            <a:off x="7543800" y="4280427"/>
            <a:ext cx="1828800" cy="256032"/>
          </a:xfrm>
          <a:prstGeom prst="rect">
            <a:avLst/>
          </a:prstGeom>
          <a:noFill/>
          <a:ln/>
        </p:spPr>
        <p:txBody>
          <a:bodyPr wrap="square" lIns="0" tIns="0" rIns="0" bIns="0" rtlCol="0" anchor="ctr"/>
          <a:lstStyle/>
          <a:p>
            <a:pPr marL="0" indent="0">
              <a:buNone/>
            </a:pPr>
            <a:r>
              <a:rPr lang="en-US" sz="1700" b="1">
                <a:solidFill>
                  <a:srgbClr val="2B6CB0"/>
                </a:solidFill>
              </a:rPr>
              <a:t>Implication</a:t>
            </a:r>
            <a:endParaRPr lang="en-US" sz="1700"/>
          </a:p>
        </p:txBody>
      </p:sp>
      <p:sp>
        <p:nvSpPr>
          <p:cNvPr id="11" name="Text 8"/>
          <p:cNvSpPr/>
          <p:nvPr/>
        </p:nvSpPr>
        <p:spPr>
          <a:xfrm>
            <a:off x="7543800" y="5146807"/>
            <a:ext cx="3794760" cy="822960"/>
          </a:xfrm>
          <a:prstGeom prst="rect">
            <a:avLst/>
          </a:prstGeom>
          <a:noFill/>
          <a:ln/>
        </p:spPr>
        <p:txBody>
          <a:bodyPr wrap="square" lIns="0" tIns="0" rIns="0" bIns="0" rtlCol="0" anchor="ctr"/>
          <a:lstStyle/>
          <a:p>
            <a:r>
              <a:rPr lang="en-US" sz="1600" dirty="0">
                <a:solidFill>
                  <a:srgbClr val="1F2937"/>
                </a:solidFill>
                <a:ea typeface="+mn-lt"/>
                <a:cs typeface="+mn-lt"/>
              </a:rPr>
              <a:t>This chart shows that as fuel efficiency increases, the average price also increases. </a:t>
            </a:r>
            <a:r>
              <a:rPr lang="en-US" sz="1600" dirty="0" err="1">
                <a:solidFill>
                  <a:srgbClr val="1F2937"/>
                </a:solidFill>
                <a:ea typeface="+mn-lt"/>
                <a:cs typeface="+mn-lt"/>
              </a:rPr>
              <a:t>So</a:t>
            </a:r>
            <a:r>
              <a:rPr lang="en-US" sz="1600" dirty="0">
                <a:solidFill>
                  <a:srgbClr val="1F2937"/>
                </a:solidFill>
                <a:ea typeface="+mn-lt"/>
                <a:cs typeface="+mn-lt"/>
              </a:rPr>
              <a:t> in this dataset, higher fuel efficiency is associated with higher prices, although it may be influenced by other factors as well.</a:t>
            </a:r>
            <a:r>
              <a:rPr lang="en-US" sz="1600" dirty="0">
                <a:solidFill>
                  <a:srgbClr val="1F2937"/>
                </a:solidFill>
              </a:rPr>
              <a:t> Fuel economy is important and should be highlighted in pricing or listing strategy.</a:t>
            </a:r>
            <a:endParaRPr lang="en-US" sz="1600"/>
          </a:p>
        </p:txBody>
      </p:sp>
      <p:sp>
        <p:nvSpPr>
          <p:cNvPr id="12" name="Text 9"/>
          <p:cNvSpPr/>
          <p:nvPr/>
        </p:nvSpPr>
        <p:spPr>
          <a:xfrm>
            <a:off x="8366760" y="6592824"/>
            <a:ext cx="3429000" cy="118872"/>
          </a:xfrm>
          <a:prstGeom prst="rect">
            <a:avLst/>
          </a:prstGeom>
          <a:noFill/>
          <a:ln/>
        </p:spPr>
        <p:txBody>
          <a:bodyPr wrap="square" lIns="0" tIns="0" rIns="0" bIns="0" rtlCol="0" anchor="ctr"/>
          <a:lstStyle/>
          <a:p>
            <a:pPr marL="0" indent="0" algn="r">
              <a:buNone/>
            </a:pPr>
            <a:r>
              <a:rPr lang="en-US" sz="850">
                <a:solidFill>
                  <a:srgbClr val="FFFFFF"/>
                </a:solidFill>
              </a:rPr>
              <a:t>Source: provided notebook screenshots</a:t>
            </a:r>
            <a:endParaRPr lang="en-US" sz="850"/>
          </a:p>
        </p:txBody>
      </p:sp>
    </p:spTree>
    <p:extLst>
      <p:ext uri="{BB962C8B-B14F-4D97-AF65-F5344CB8AC3E}">
        <p14:creationId xmlns:p14="http://schemas.microsoft.com/office/powerpoint/2010/main" val="35386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6324F"/>
          </a:solidFill>
          <a:ln w="12700">
            <a:solidFill>
              <a:srgbClr val="16324F">
                <a:alpha val="0"/>
              </a:srgbClr>
            </a:solidFill>
            <a:prstDash val="solid"/>
          </a:ln>
        </p:spPr>
        <p:txBody>
          <a:bodyPr/>
          <a:lstStyle/>
          <a:p>
            <a:endParaRPr lang="en-US"/>
          </a:p>
        </p:txBody>
      </p:sp>
      <p:sp>
        <p:nvSpPr>
          <p:cNvPr id="3" name="Shape 1"/>
          <p:cNvSpPr/>
          <p:nvPr/>
        </p:nvSpPr>
        <p:spPr>
          <a:xfrm>
            <a:off x="0" y="6565392"/>
            <a:ext cx="12191695" cy="292608"/>
          </a:xfrm>
          <a:prstGeom prst="rect">
            <a:avLst/>
          </a:prstGeom>
          <a:solidFill>
            <a:srgbClr val="F4A261"/>
          </a:solidFill>
          <a:ln w="12700">
            <a:solidFill>
              <a:srgbClr val="F4A261">
                <a:alpha val="0"/>
              </a:srgbClr>
            </a:solidFill>
            <a:prstDash val="solid"/>
          </a:ln>
        </p:spPr>
        <p:txBody>
          <a:bodyPr/>
          <a:lstStyle/>
          <a:p>
            <a:endParaRPr lang="en-US"/>
          </a:p>
        </p:txBody>
      </p:sp>
      <p:sp>
        <p:nvSpPr>
          <p:cNvPr id="4" name="Text 2"/>
          <p:cNvSpPr/>
          <p:nvPr/>
        </p:nvSpPr>
        <p:spPr>
          <a:xfrm>
            <a:off x="502920" y="566928"/>
            <a:ext cx="6858000" cy="310896"/>
          </a:xfrm>
          <a:prstGeom prst="rect">
            <a:avLst/>
          </a:prstGeom>
          <a:noFill/>
          <a:ln/>
        </p:spPr>
        <p:txBody>
          <a:bodyPr wrap="square" lIns="0" tIns="0" rIns="0" bIns="0" rtlCol="0" anchor="ctr"/>
          <a:lstStyle/>
          <a:p>
            <a:pPr marL="0" indent="0">
              <a:buNone/>
            </a:pPr>
            <a:r>
              <a:rPr lang="en-US" sz="2600" b="1">
                <a:solidFill>
                  <a:srgbClr val="16324F"/>
                </a:solidFill>
                <a:latin typeface="Aptos Display" pitchFamily="34" charset="0"/>
                <a:ea typeface="Aptos Display" pitchFamily="34" charset="-122"/>
                <a:cs typeface="Aptos Display" pitchFamily="34" charset="-120"/>
              </a:rPr>
              <a:t>Average Price by Make Year</a:t>
            </a:r>
            <a:endParaRPr lang="en-US" sz="2600"/>
          </a:p>
        </p:txBody>
      </p:sp>
      <p:sp>
        <p:nvSpPr>
          <p:cNvPr id="5" name="Text 3"/>
          <p:cNvSpPr/>
          <p:nvPr/>
        </p:nvSpPr>
        <p:spPr>
          <a:xfrm>
            <a:off x="530352" y="969264"/>
            <a:ext cx="6217920" cy="164592"/>
          </a:xfrm>
          <a:prstGeom prst="rect">
            <a:avLst/>
          </a:prstGeom>
          <a:noFill/>
          <a:ln/>
        </p:spPr>
        <p:txBody>
          <a:bodyPr wrap="square" lIns="0" tIns="0" rIns="0" bIns="0" rtlCol="0" anchor="ctr"/>
          <a:lstStyle/>
          <a:p>
            <a:pPr marL="0" indent="0">
              <a:buNone/>
            </a:pPr>
            <a:r>
              <a:rPr lang="en-US" sz="1150">
                <a:solidFill>
                  <a:srgbClr val="5B6777"/>
                </a:solidFill>
              </a:rPr>
              <a:t>Line chart showing how pricing changes with vehicle age</a:t>
            </a:r>
            <a:endParaRPr lang="en-US" sz="1150"/>
          </a:p>
        </p:txBody>
      </p:sp>
      <p:sp>
        <p:nvSpPr>
          <p:cNvPr id="6" name="Shape 4"/>
          <p:cNvSpPr/>
          <p:nvPr/>
        </p:nvSpPr>
        <p:spPr>
          <a:xfrm>
            <a:off x="502920" y="1325880"/>
            <a:ext cx="6766560" cy="4754880"/>
          </a:xfrm>
          <a:prstGeom prst="roundRect">
            <a:avLst>
              <a:gd name="adj" fmla="val 1538"/>
            </a:avLst>
          </a:prstGeom>
          <a:solidFill>
            <a:srgbClr val="FFFFFF"/>
          </a:solidFill>
          <a:ln w="12700">
            <a:solidFill>
              <a:srgbClr val="D7DEE8"/>
            </a:solidFill>
            <a:prstDash val="solid"/>
          </a:ln>
          <a:effectLst>
            <a:outerShdw blurRad="25400" dist="12700" dir="2700000" algn="bl" rotWithShape="0">
              <a:srgbClr val="000000">
                <a:alpha val="16000"/>
              </a:srgbClr>
            </a:outerShdw>
          </a:effectLst>
        </p:spPr>
        <p:txBody>
          <a:bodyPr/>
          <a:lstStyle/>
          <a:p>
            <a:endParaRPr lang="en-US"/>
          </a:p>
        </p:txBody>
      </p:sp>
      <p:sp>
        <p:nvSpPr>
          <p:cNvPr id="8" name="Text 5"/>
          <p:cNvSpPr/>
          <p:nvPr/>
        </p:nvSpPr>
        <p:spPr>
          <a:xfrm>
            <a:off x="7498080" y="1554480"/>
            <a:ext cx="3840480" cy="256032"/>
          </a:xfrm>
          <a:prstGeom prst="rect">
            <a:avLst/>
          </a:prstGeom>
          <a:noFill/>
          <a:ln/>
        </p:spPr>
        <p:txBody>
          <a:bodyPr wrap="square" lIns="0" tIns="0" rIns="0" bIns="0" rtlCol="0" anchor="ctr"/>
          <a:lstStyle/>
          <a:p>
            <a:pPr marL="0" indent="0">
              <a:buNone/>
            </a:pPr>
            <a:r>
              <a:rPr lang="en-US" sz="1700" b="1">
                <a:solidFill>
                  <a:srgbClr val="2B6CB0"/>
                </a:solidFill>
              </a:rPr>
              <a:t>Key observations</a:t>
            </a:r>
            <a:endParaRPr lang="en-US" sz="1700"/>
          </a:p>
        </p:txBody>
      </p:sp>
      <p:sp>
        <p:nvSpPr>
          <p:cNvPr id="9" name="Text 6"/>
          <p:cNvSpPr/>
          <p:nvPr/>
        </p:nvSpPr>
        <p:spPr>
          <a:xfrm>
            <a:off x="7498080" y="1874520"/>
            <a:ext cx="3840480" cy="2651760"/>
          </a:xfrm>
          <a:prstGeom prst="rect">
            <a:avLst/>
          </a:prstGeom>
          <a:noFill/>
          <a:ln/>
        </p:spPr>
        <p:txBody>
          <a:bodyPr wrap="square" lIns="254" tIns="254" rIns="254" bIns="254" rtlCol="0" anchor="t"/>
          <a:lstStyle/>
          <a:p>
            <a:pPr marL="177800" indent="-177800">
              <a:buSzPct val="100000"/>
              <a:buChar char="•"/>
            </a:pPr>
            <a:r>
              <a:rPr lang="en-US" sz="1600">
                <a:solidFill>
                  <a:srgbClr val="1F2937"/>
                </a:solidFill>
              </a:rPr>
              <a:t>Newer model years are associated with higher prices.
</a:t>
            </a:r>
            <a:endParaRPr lang="en-US" sz="1600"/>
          </a:p>
          <a:p>
            <a:pPr marL="177800" indent="-177800">
              <a:buSzPct val="100000"/>
              <a:buChar char="•"/>
            </a:pPr>
            <a:r>
              <a:rPr lang="en-US" sz="1600">
                <a:solidFill>
                  <a:srgbClr val="1F2937"/>
                </a:solidFill>
              </a:rPr>
              <a:t>There are small dips, but the overall trend is strongly upward.
</a:t>
            </a:r>
            <a:endParaRPr lang="en-US" sz="1600"/>
          </a:p>
          <a:p>
            <a:pPr marL="177800" indent="-177800">
              <a:buSzPct val="100000"/>
              <a:buChar char="•"/>
            </a:pPr>
            <a:r>
              <a:rPr lang="en-US" sz="1600">
                <a:solidFill>
                  <a:srgbClr val="1F2937"/>
                </a:solidFill>
              </a:rPr>
              <a:t>Recent years capture the highest price levels.</a:t>
            </a:r>
            <a:endParaRPr lang="en-US" sz="1600"/>
          </a:p>
        </p:txBody>
      </p:sp>
      <p:sp>
        <p:nvSpPr>
          <p:cNvPr id="10" name="Text 7"/>
          <p:cNvSpPr/>
          <p:nvPr/>
        </p:nvSpPr>
        <p:spPr>
          <a:xfrm>
            <a:off x="7498080" y="4709160"/>
            <a:ext cx="1828800" cy="256032"/>
          </a:xfrm>
          <a:prstGeom prst="rect">
            <a:avLst/>
          </a:prstGeom>
          <a:noFill/>
          <a:ln/>
        </p:spPr>
        <p:txBody>
          <a:bodyPr wrap="square" lIns="0" tIns="0" rIns="0" bIns="0" rtlCol="0" anchor="ctr"/>
          <a:lstStyle/>
          <a:p>
            <a:pPr marL="0" indent="0">
              <a:buNone/>
            </a:pPr>
            <a:r>
              <a:rPr lang="en-US" sz="1700" b="1">
                <a:solidFill>
                  <a:srgbClr val="2B6CB0"/>
                </a:solidFill>
              </a:rPr>
              <a:t>Implication</a:t>
            </a:r>
            <a:endParaRPr lang="en-US" sz="1700"/>
          </a:p>
        </p:txBody>
      </p:sp>
      <p:sp>
        <p:nvSpPr>
          <p:cNvPr id="11" name="Text 8"/>
          <p:cNvSpPr/>
          <p:nvPr/>
        </p:nvSpPr>
        <p:spPr>
          <a:xfrm>
            <a:off x="7498080" y="5029200"/>
            <a:ext cx="3886200" cy="594360"/>
          </a:xfrm>
          <a:prstGeom prst="rect">
            <a:avLst/>
          </a:prstGeom>
          <a:noFill/>
          <a:ln/>
        </p:spPr>
        <p:txBody>
          <a:bodyPr wrap="square" lIns="0" tIns="0" rIns="0" bIns="0" rtlCol="0" anchor="ctr"/>
          <a:lstStyle/>
          <a:p>
            <a:r>
              <a:rPr lang="en-US" sz="1600" dirty="0">
                <a:solidFill>
                  <a:srgbClr val="1F2937"/>
                </a:solidFill>
              </a:rPr>
              <a:t>Vehicle age should remain a primary pricing anchor when </a:t>
            </a:r>
            <a:r>
              <a:rPr lang="en-US" sz="1600">
                <a:solidFill>
                  <a:srgbClr val="1F2937"/>
                </a:solidFill>
              </a:rPr>
              <a:t>comparing listings.</a:t>
            </a:r>
            <a:endParaRPr lang="en-US" sz="1600"/>
          </a:p>
        </p:txBody>
      </p:sp>
      <p:sp>
        <p:nvSpPr>
          <p:cNvPr id="12" name="Text 9"/>
          <p:cNvSpPr/>
          <p:nvPr/>
        </p:nvSpPr>
        <p:spPr>
          <a:xfrm>
            <a:off x="8366760" y="6592824"/>
            <a:ext cx="3429000" cy="118872"/>
          </a:xfrm>
          <a:prstGeom prst="rect">
            <a:avLst/>
          </a:prstGeom>
          <a:noFill/>
          <a:ln/>
        </p:spPr>
        <p:txBody>
          <a:bodyPr wrap="square" lIns="0" tIns="0" rIns="0" bIns="0" rtlCol="0" anchor="ctr"/>
          <a:lstStyle/>
          <a:p>
            <a:pPr marL="0" indent="0" algn="r">
              <a:buNone/>
            </a:pPr>
            <a:r>
              <a:rPr lang="en-US" sz="850">
                <a:solidFill>
                  <a:srgbClr val="FFFFFF"/>
                </a:solidFill>
              </a:rPr>
              <a:t>Source: provided notebook screenshots</a:t>
            </a:r>
            <a:endParaRPr lang="en-US" sz="850"/>
          </a:p>
        </p:txBody>
      </p:sp>
      <p:pic>
        <p:nvPicPr>
          <p:cNvPr id="13" name="Picture 12" descr="A graph with a line going up&#10;&#10;AI-generated content may be incorrect.">
            <a:extLst>
              <a:ext uri="{FF2B5EF4-FFF2-40B4-BE49-F238E27FC236}">
                <a16:creationId xmlns:a16="http://schemas.microsoft.com/office/drawing/2014/main" id="{80420561-5D1E-BA09-3566-BFA88AED06D4}"/>
              </a:ext>
            </a:extLst>
          </p:cNvPr>
          <p:cNvPicPr>
            <a:picLocks noChangeAspect="1"/>
          </p:cNvPicPr>
          <p:nvPr/>
        </p:nvPicPr>
        <p:blipFill>
          <a:blip r:embed="rId3"/>
          <a:stretch>
            <a:fillRect/>
          </a:stretch>
        </p:blipFill>
        <p:spPr>
          <a:xfrm>
            <a:off x="1122701" y="1555620"/>
            <a:ext cx="5524500" cy="4333875"/>
          </a:xfrm>
          <a:prstGeom prst="rect">
            <a:avLst/>
          </a:prstGeom>
        </p:spPr>
      </p:pic>
    </p:spTree>
    <p:extLst>
      <p:ext uri="{BB962C8B-B14F-4D97-AF65-F5344CB8AC3E}">
        <p14:creationId xmlns:p14="http://schemas.microsoft.com/office/powerpoint/2010/main" val="3781098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6324F"/>
          </a:solidFill>
          <a:ln w="12700">
            <a:solidFill>
              <a:srgbClr val="16324F">
                <a:alpha val="0"/>
              </a:srgbClr>
            </a:solidFill>
            <a:prstDash val="solid"/>
          </a:ln>
        </p:spPr>
        <p:txBody>
          <a:bodyPr/>
          <a:lstStyle/>
          <a:p>
            <a:endParaRPr lang="en-US"/>
          </a:p>
        </p:txBody>
      </p:sp>
      <p:sp>
        <p:nvSpPr>
          <p:cNvPr id="3" name="Shape 1"/>
          <p:cNvSpPr/>
          <p:nvPr/>
        </p:nvSpPr>
        <p:spPr>
          <a:xfrm>
            <a:off x="0" y="6565392"/>
            <a:ext cx="12191695" cy="292608"/>
          </a:xfrm>
          <a:prstGeom prst="rect">
            <a:avLst/>
          </a:prstGeom>
          <a:solidFill>
            <a:srgbClr val="F4A261"/>
          </a:solidFill>
          <a:ln w="12700">
            <a:solidFill>
              <a:srgbClr val="F4A261">
                <a:alpha val="0"/>
              </a:srgbClr>
            </a:solidFill>
            <a:prstDash val="solid"/>
          </a:ln>
        </p:spPr>
        <p:txBody>
          <a:bodyPr/>
          <a:lstStyle/>
          <a:p>
            <a:endParaRPr lang="en-US"/>
          </a:p>
        </p:txBody>
      </p:sp>
      <p:sp>
        <p:nvSpPr>
          <p:cNvPr id="4" name="Text 2"/>
          <p:cNvSpPr/>
          <p:nvPr/>
        </p:nvSpPr>
        <p:spPr>
          <a:xfrm>
            <a:off x="502920" y="566928"/>
            <a:ext cx="6858000" cy="310896"/>
          </a:xfrm>
          <a:prstGeom prst="rect">
            <a:avLst/>
          </a:prstGeom>
          <a:noFill/>
          <a:ln/>
        </p:spPr>
        <p:txBody>
          <a:bodyPr wrap="square" lIns="0" tIns="0" rIns="0" bIns="0" rtlCol="0" anchor="ctr"/>
          <a:lstStyle/>
          <a:p>
            <a:pPr marL="0" indent="0">
              <a:buNone/>
            </a:pPr>
            <a:r>
              <a:rPr lang="en-US" sz="2600" b="1">
                <a:solidFill>
                  <a:srgbClr val="16324F"/>
                </a:solidFill>
                <a:latin typeface="Aptos Display" pitchFamily="34" charset="0"/>
                <a:ea typeface="Aptos Display" pitchFamily="34" charset="-122"/>
                <a:cs typeface="Aptos Display" pitchFamily="34" charset="-120"/>
              </a:rPr>
              <a:t>Feature Importance from the Model</a:t>
            </a:r>
            <a:endParaRPr lang="en-US" sz="2600"/>
          </a:p>
        </p:txBody>
      </p:sp>
      <p:sp>
        <p:nvSpPr>
          <p:cNvPr id="5" name="Text 3"/>
          <p:cNvSpPr/>
          <p:nvPr/>
        </p:nvSpPr>
        <p:spPr>
          <a:xfrm>
            <a:off x="530352" y="969264"/>
            <a:ext cx="6217920" cy="164592"/>
          </a:xfrm>
          <a:prstGeom prst="rect">
            <a:avLst/>
          </a:prstGeom>
          <a:noFill/>
          <a:ln/>
        </p:spPr>
        <p:txBody>
          <a:bodyPr wrap="square" lIns="0" tIns="0" rIns="0" bIns="0" rtlCol="0" anchor="ctr"/>
          <a:lstStyle/>
          <a:p>
            <a:pPr marL="0" indent="0">
              <a:buNone/>
            </a:pPr>
            <a:r>
              <a:rPr lang="en-US" sz="1150">
                <a:solidFill>
                  <a:srgbClr val="5B6777"/>
                </a:solidFill>
              </a:rPr>
              <a:t>Relative importance learned by the fitted random forest</a:t>
            </a:r>
            <a:endParaRPr lang="en-US" sz="1150"/>
          </a:p>
        </p:txBody>
      </p:sp>
      <p:sp>
        <p:nvSpPr>
          <p:cNvPr id="6" name="Shape 4"/>
          <p:cNvSpPr/>
          <p:nvPr/>
        </p:nvSpPr>
        <p:spPr>
          <a:xfrm>
            <a:off x="502920" y="1353312"/>
            <a:ext cx="6903720" cy="4709160"/>
          </a:xfrm>
          <a:prstGeom prst="roundRect">
            <a:avLst>
              <a:gd name="adj" fmla="val 1553"/>
            </a:avLst>
          </a:prstGeom>
          <a:solidFill>
            <a:srgbClr val="FFFFFF"/>
          </a:solidFill>
          <a:ln w="12700">
            <a:solidFill>
              <a:srgbClr val="D7DEE8"/>
            </a:solidFill>
            <a:prstDash val="solid"/>
          </a:ln>
          <a:effectLst>
            <a:outerShdw blurRad="25400" dist="12700" dir="2700000" algn="bl" rotWithShape="0">
              <a:srgbClr val="000000">
                <a:alpha val="16000"/>
              </a:srgbClr>
            </a:outerShdw>
          </a:effectLst>
        </p:spPr>
        <p:txBody>
          <a:bodyPr/>
          <a:lstStyle/>
          <a:p>
            <a:endParaRPr lang="en-US"/>
          </a:p>
        </p:txBody>
      </p:sp>
      <p:sp>
        <p:nvSpPr>
          <p:cNvPr id="8" name="Text 5"/>
          <p:cNvSpPr/>
          <p:nvPr/>
        </p:nvSpPr>
        <p:spPr>
          <a:xfrm>
            <a:off x="7571232" y="1572768"/>
            <a:ext cx="3703320" cy="256032"/>
          </a:xfrm>
          <a:prstGeom prst="rect">
            <a:avLst/>
          </a:prstGeom>
          <a:noFill/>
          <a:ln/>
        </p:spPr>
        <p:txBody>
          <a:bodyPr wrap="square" lIns="0" tIns="0" rIns="0" bIns="0" rtlCol="0" anchor="ctr"/>
          <a:lstStyle/>
          <a:p>
            <a:pPr marL="0" indent="0">
              <a:buNone/>
            </a:pPr>
            <a:r>
              <a:rPr lang="en-US" sz="1700" b="1">
                <a:solidFill>
                  <a:srgbClr val="2B6CB0"/>
                </a:solidFill>
              </a:rPr>
              <a:t>Key observations</a:t>
            </a:r>
            <a:endParaRPr lang="en-US" sz="1700"/>
          </a:p>
        </p:txBody>
      </p:sp>
      <p:sp>
        <p:nvSpPr>
          <p:cNvPr id="9" name="Text 6"/>
          <p:cNvSpPr/>
          <p:nvPr/>
        </p:nvSpPr>
        <p:spPr>
          <a:xfrm>
            <a:off x="7571232" y="1892808"/>
            <a:ext cx="3703320" cy="2651760"/>
          </a:xfrm>
          <a:prstGeom prst="rect">
            <a:avLst/>
          </a:prstGeom>
          <a:noFill/>
          <a:ln/>
        </p:spPr>
        <p:txBody>
          <a:bodyPr wrap="square" lIns="254" tIns="254" rIns="254" bIns="254" rtlCol="0" anchor="t"/>
          <a:lstStyle/>
          <a:p>
            <a:pPr marL="177800" indent="-177800">
              <a:buSzPct val="100000"/>
              <a:buChar char="•"/>
            </a:pPr>
            <a:r>
              <a:rPr lang="en-US" sz="1600">
                <a:solidFill>
                  <a:srgbClr val="1F2937"/>
                </a:solidFill>
              </a:rPr>
              <a:t>Engine size is the dominant driver in the model.
</a:t>
            </a:r>
            <a:endParaRPr lang="en-US" sz="1600"/>
          </a:p>
          <a:p>
            <a:pPr marL="177800" indent="-177800">
              <a:buSzPct val="100000"/>
              <a:buChar char="•"/>
            </a:pPr>
            <a:r>
              <a:rPr lang="en-US" sz="1600">
                <a:solidFill>
                  <a:srgbClr val="1F2937"/>
                </a:solidFill>
              </a:rPr>
              <a:t>Make year and mileage are the next strongest inputs.
</a:t>
            </a:r>
            <a:endParaRPr lang="en-US" sz="1600"/>
          </a:p>
          <a:p>
            <a:pPr marL="177800" indent="-177800">
              <a:buSzPct val="100000"/>
              <a:buChar char="•"/>
            </a:pPr>
            <a:r>
              <a:rPr lang="en-US" sz="1600">
                <a:solidFill>
                  <a:srgbClr val="1F2937"/>
                </a:solidFill>
              </a:rPr>
              <a:t>Transmission, insurance validity, and accident reporting add little.</a:t>
            </a:r>
            <a:endParaRPr lang="en-US" sz="1600"/>
          </a:p>
        </p:txBody>
      </p:sp>
      <p:sp>
        <p:nvSpPr>
          <p:cNvPr id="10" name="Text 7"/>
          <p:cNvSpPr/>
          <p:nvPr/>
        </p:nvSpPr>
        <p:spPr>
          <a:xfrm>
            <a:off x="7571232" y="4709160"/>
            <a:ext cx="1828800" cy="256032"/>
          </a:xfrm>
          <a:prstGeom prst="rect">
            <a:avLst/>
          </a:prstGeom>
          <a:noFill/>
          <a:ln/>
        </p:spPr>
        <p:txBody>
          <a:bodyPr wrap="square" lIns="0" tIns="0" rIns="0" bIns="0" rtlCol="0" anchor="ctr"/>
          <a:lstStyle/>
          <a:p>
            <a:pPr marL="0" indent="0">
              <a:buNone/>
            </a:pPr>
            <a:r>
              <a:rPr lang="en-US" sz="1700" b="1">
                <a:solidFill>
                  <a:srgbClr val="2B6CB0"/>
                </a:solidFill>
              </a:rPr>
              <a:t>Implication</a:t>
            </a:r>
            <a:endParaRPr lang="en-US" sz="1700"/>
          </a:p>
        </p:txBody>
      </p:sp>
      <p:sp>
        <p:nvSpPr>
          <p:cNvPr id="11" name="Text 8"/>
          <p:cNvSpPr/>
          <p:nvPr/>
        </p:nvSpPr>
        <p:spPr>
          <a:xfrm>
            <a:off x="7571232" y="5223164"/>
            <a:ext cx="3703320" cy="777240"/>
          </a:xfrm>
          <a:prstGeom prst="rect">
            <a:avLst/>
          </a:prstGeom>
          <a:noFill/>
          <a:ln/>
        </p:spPr>
        <p:txBody>
          <a:bodyPr wrap="square" lIns="0" tIns="0" rIns="0" bIns="0" rtlCol="0" anchor="ctr"/>
          <a:lstStyle/>
          <a:p>
            <a:r>
              <a:rPr lang="en-US" sz="1600">
                <a:solidFill>
                  <a:srgbClr val="1F2937"/>
                </a:solidFill>
                <a:ea typeface="+mn-lt"/>
                <a:cs typeface="+mn-lt"/>
              </a:rPr>
              <a:t>This chart shows that engine size is the most important factor in predicting price, followed by make year and mileage. Other features like transmission and insurance status have much less impact.”</a:t>
            </a:r>
            <a:endParaRPr lang="en-US"/>
          </a:p>
        </p:txBody>
      </p:sp>
      <p:sp>
        <p:nvSpPr>
          <p:cNvPr id="12" name="Text 9"/>
          <p:cNvSpPr/>
          <p:nvPr/>
        </p:nvSpPr>
        <p:spPr>
          <a:xfrm>
            <a:off x="8366760" y="6592824"/>
            <a:ext cx="3429000" cy="118872"/>
          </a:xfrm>
          <a:prstGeom prst="rect">
            <a:avLst/>
          </a:prstGeom>
          <a:noFill/>
          <a:ln/>
        </p:spPr>
        <p:txBody>
          <a:bodyPr wrap="square" lIns="0" tIns="0" rIns="0" bIns="0" rtlCol="0" anchor="ctr"/>
          <a:lstStyle/>
          <a:p>
            <a:pPr marL="0" indent="0" algn="r">
              <a:buNone/>
            </a:pPr>
            <a:r>
              <a:rPr lang="en-US" sz="850">
                <a:solidFill>
                  <a:srgbClr val="FFFFFF"/>
                </a:solidFill>
              </a:rPr>
              <a:t>Source: provided notebook screenshots</a:t>
            </a:r>
            <a:endParaRPr lang="en-US" sz="850"/>
          </a:p>
        </p:txBody>
      </p:sp>
      <p:pic>
        <p:nvPicPr>
          <p:cNvPr id="13" name="Picture 12" descr="A graph with blue bars&#10;&#10;AI-generated content may be incorrect.">
            <a:extLst>
              <a:ext uri="{FF2B5EF4-FFF2-40B4-BE49-F238E27FC236}">
                <a16:creationId xmlns:a16="http://schemas.microsoft.com/office/drawing/2014/main" id="{2A06862C-4D63-E0DD-FAC4-8950F625FFE8}"/>
              </a:ext>
            </a:extLst>
          </p:cNvPr>
          <p:cNvPicPr>
            <a:picLocks noChangeAspect="1"/>
          </p:cNvPicPr>
          <p:nvPr/>
        </p:nvPicPr>
        <p:blipFill>
          <a:blip r:embed="rId3"/>
          <a:stretch>
            <a:fillRect/>
          </a:stretch>
        </p:blipFill>
        <p:spPr>
          <a:xfrm>
            <a:off x="671513" y="1632133"/>
            <a:ext cx="6276975" cy="4143375"/>
          </a:xfrm>
          <a:prstGeom prst="rect">
            <a:avLst/>
          </a:prstGeom>
        </p:spPr>
      </p:pic>
    </p:spTree>
    <p:extLst>
      <p:ext uri="{BB962C8B-B14F-4D97-AF65-F5344CB8AC3E}">
        <p14:creationId xmlns:p14="http://schemas.microsoft.com/office/powerpoint/2010/main" val="1954513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110B2E45-ACF2-D475-2DAC-506C33BEAE3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B7D9654-FF26-D694-3D06-441E4255DAED}"/>
              </a:ext>
            </a:extLst>
          </p:cNvPr>
          <p:cNvSpPr/>
          <p:nvPr/>
        </p:nvSpPr>
        <p:spPr>
          <a:xfrm>
            <a:off x="0" y="0"/>
            <a:ext cx="12191695" cy="384048"/>
          </a:xfrm>
          <a:prstGeom prst="rect">
            <a:avLst/>
          </a:prstGeom>
          <a:solidFill>
            <a:srgbClr val="16324F"/>
          </a:solidFill>
          <a:ln w="12700">
            <a:solidFill>
              <a:srgbClr val="16324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9FB1039C-36B7-ACA7-E7A4-B4C4E9224296}"/>
              </a:ext>
            </a:extLst>
          </p:cNvPr>
          <p:cNvSpPr/>
          <p:nvPr/>
        </p:nvSpPr>
        <p:spPr>
          <a:xfrm>
            <a:off x="0" y="6565392"/>
            <a:ext cx="12191695" cy="292608"/>
          </a:xfrm>
          <a:prstGeom prst="rect">
            <a:avLst/>
          </a:prstGeom>
          <a:solidFill>
            <a:srgbClr val="F4A261"/>
          </a:solidFill>
          <a:ln w="12700">
            <a:solidFill>
              <a:srgbClr val="F4A261">
                <a:alpha val="0"/>
              </a:srgbClr>
            </a:solidFill>
            <a:prstDash val="solid"/>
          </a:ln>
        </p:spPr>
        <p:txBody>
          <a:bodyPr/>
          <a:lstStyle/>
          <a:p>
            <a:endParaRPr lang="en-US"/>
          </a:p>
        </p:txBody>
      </p:sp>
      <p:sp>
        <p:nvSpPr>
          <p:cNvPr id="4" name="Text 2">
            <a:extLst>
              <a:ext uri="{FF2B5EF4-FFF2-40B4-BE49-F238E27FC236}">
                <a16:creationId xmlns:a16="http://schemas.microsoft.com/office/drawing/2014/main" id="{73842F13-9B6E-E030-3C47-16E04791D761}"/>
              </a:ext>
            </a:extLst>
          </p:cNvPr>
          <p:cNvSpPr/>
          <p:nvPr/>
        </p:nvSpPr>
        <p:spPr>
          <a:xfrm>
            <a:off x="502920" y="566928"/>
            <a:ext cx="6858000" cy="310896"/>
          </a:xfrm>
          <a:prstGeom prst="rect">
            <a:avLst/>
          </a:prstGeom>
          <a:noFill/>
          <a:ln/>
        </p:spPr>
        <p:txBody>
          <a:bodyPr wrap="square" lIns="0" tIns="0" rIns="0" bIns="0" rtlCol="0" anchor="ctr"/>
          <a:lstStyle/>
          <a:p>
            <a:r>
              <a:rPr lang="en-US" sz="2600" b="1">
                <a:solidFill>
                  <a:srgbClr val="16324F"/>
                </a:solidFill>
                <a:latin typeface="Aptos Display"/>
                <a:ea typeface="Aptos Display" pitchFamily="34" charset="-122"/>
                <a:cs typeface="Aptos Display" pitchFamily="34" charset="-120"/>
              </a:rPr>
              <a:t>Correlation Analysis</a:t>
            </a:r>
            <a:endParaRPr lang="en-US" sz="2600">
              <a:latin typeface="Aptos Display"/>
            </a:endParaRPr>
          </a:p>
        </p:txBody>
      </p:sp>
      <p:sp>
        <p:nvSpPr>
          <p:cNvPr id="5" name="Text 3">
            <a:extLst>
              <a:ext uri="{FF2B5EF4-FFF2-40B4-BE49-F238E27FC236}">
                <a16:creationId xmlns:a16="http://schemas.microsoft.com/office/drawing/2014/main" id="{E1A001DB-95A8-BAC9-6EFD-DBB74E7FEA22}"/>
              </a:ext>
            </a:extLst>
          </p:cNvPr>
          <p:cNvSpPr/>
          <p:nvPr/>
        </p:nvSpPr>
        <p:spPr>
          <a:xfrm>
            <a:off x="530352" y="969264"/>
            <a:ext cx="6217920" cy="164592"/>
          </a:xfrm>
          <a:prstGeom prst="rect">
            <a:avLst/>
          </a:prstGeom>
          <a:noFill/>
          <a:ln/>
        </p:spPr>
        <p:txBody>
          <a:bodyPr wrap="square" lIns="0" tIns="0" rIns="0" bIns="0" rtlCol="0" anchor="ctr"/>
          <a:lstStyle/>
          <a:p>
            <a:r>
              <a:rPr lang="en-US" sz="1150">
                <a:solidFill>
                  <a:srgbClr val="5B6777"/>
                </a:solidFill>
                <a:ea typeface="+mn-lt"/>
                <a:cs typeface="+mn-lt"/>
              </a:rPr>
              <a:t>Correlation between key features and price</a:t>
            </a:r>
            <a:endParaRPr lang="en-US"/>
          </a:p>
        </p:txBody>
      </p:sp>
      <p:sp>
        <p:nvSpPr>
          <p:cNvPr id="6" name="Shape 4">
            <a:extLst>
              <a:ext uri="{FF2B5EF4-FFF2-40B4-BE49-F238E27FC236}">
                <a16:creationId xmlns:a16="http://schemas.microsoft.com/office/drawing/2014/main" id="{C4B8BEEB-8DE8-015F-8469-D2F15BA3A018}"/>
              </a:ext>
            </a:extLst>
          </p:cNvPr>
          <p:cNvSpPr/>
          <p:nvPr/>
        </p:nvSpPr>
        <p:spPr>
          <a:xfrm>
            <a:off x="502920" y="1353312"/>
            <a:ext cx="6903720" cy="4709160"/>
          </a:xfrm>
          <a:prstGeom prst="roundRect">
            <a:avLst>
              <a:gd name="adj" fmla="val 1553"/>
            </a:avLst>
          </a:prstGeom>
          <a:solidFill>
            <a:srgbClr val="FFFFFF"/>
          </a:solidFill>
          <a:ln w="12700">
            <a:solidFill>
              <a:srgbClr val="D7DEE8"/>
            </a:solidFill>
            <a:prstDash val="solid"/>
          </a:ln>
          <a:effectLst>
            <a:outerShdw blurRad="25400" dist="12700" dir="2700000" algn="bl" rotWithShape="0">
              <a:srgbClr val="000000">
                <a:alpha val="16000"/>
              </a:srgbClr>
            </a:outerShdw>
          </a:effectLst>
        </p:spPr>
        <p:txBody>
          <a:bodyPr/>
          <a:lstStyle/>
          <a:p>
            <a:endParaRPr lang="en-US"/>
          </a:p>
        </p:txBody>
      </p:sp>
      <p:sp>
        <p:nvSpPr>
          <p:cNvPr id="8" name="Text 5">
            <a:extLst>
              <a:ext uri="{FF2B5EF4-FFF2-40B4-BE49-F238E27FC236}">
                <a16:creationId xmlns:a16="http://schemas.microsoft.com/office/drawing/2014/main" id="{1A15F98F-C241-A5F6-6FC5-8F4BEDA0FE62}"/>
              </a:ext>
            </a:extLst>
          </p:cNvPr>
          <p:cNvSpPr/>
          <p:nvPr/>
        </p:nvSpPr>
        <p:spPr>
          <a:xfrm>
            <a:off x="7571232" y="1572768"/>
            <a:ext cx="3703320" cy="256032"/>
          </a:xfrm>
          <a:prstGeom prst="rect">
            <a:avLst/>
          </a:prstGeom>
          <a:noFill/>
          <a:ln/>
        </p:spPr>
        <p:txBody>
          <a:bodyPr wrap="square" lIns="0" tIns="0" rIns="0" bIns="0" rtlCol="0" anchor="ctr"/>
          <a:lstStyle/>
          <a:p>
            <a:pPr marL="0" indent="0">
              <a:buNone/>
            </a:pPr>
            <a:r>
              <a:rPr lang="en-US" sz="1700" b="1">
                <a:solidFill>
                  <a:srgbClr val="2B6CB0"/>
                </a:solidFill>
              </a:rPr>
              <a:t>Key observations</a:t>
            </a:r>
            <a:endParaRPr lang="en-US" sz="1700"/>
          </a:p>
        </p:txBody>
      </p:sp>
      <p:sp>
        <p:nvSpPr>
          <p:cNvPr id="9" name="Text 6">
            <a:extLst>
              <a:ext uri="{FF2B5EF4-FFF2-40B4-BE49-F238E27FC236}">
                <a16:creationId xmlns:a16="http://schemas.microsoft.com/office/drawing/2014/main" id="{3084C8C0-F5EE-6541-5C85-3C86425995B5}"/>
              </a:ext>
            </a:extLst>
          </p:cNvPr>
          <p:cNvSpPr/>
          <p:nvPr/>
        </p:nvSpPr>
        <p:spPr>
          <a:xfrm>
            <a:off x="7571232" y="1892808"/>
            <a:ext cx="3703320" cy="2651760"/>
          </a:xfrm>
          <a:prstGeom prst="rect">
            <a:avLst/>
          </a:prstGeom>
          <a:noFill/>
          <a:ln/>
        </p:spPr>
        <p:txBody>
          <a:bodyPr wrap="square" lIns="254" tIns="254" rIns="254" bIns="254" rtlCol="0" anchor="t"/>
          <a:lstStyle/>
          <a:p>
            <a:pPr marL="285750" indent="-285750">
              <a:lnSpc>
                <a:spcPct val="90000"/>
              </a:lnSpc>
              <a:spcBef>
                <a:spcPts val="1000"/>
              </a:spcBef>
              <a:buSzPct val="100000"/>
              <a:buFont typeface="Arial"/>
              <a:buChar char="•"/>
            </a:pPr>
            <a:r>
              <a:rPr lang="en-US" sz="1600" dirty="0" err="1">
                <a:solidFill>
                  <a:srgbClr val="1F2937"/>
                </a:solidFill>
              </a:rPr>
              <a:t>engine_cc</a:t>
            </a:r>
            <a:r>
              <a:rPr lang="en-US" sz="1600" dirty="0">
                <a:solidFill>
                  <a:srgbClr val="1F2937"/>
                </a:solidFill>
              </a:rPr>
              <a:t> had the strongest positive relationship with price </a:t>
            </a:r>
            <a:r>
              <a:rPr lang="en-US" sz="1600" dirty="0">
                <a:solidFill>
                  <a:srgbClr val="1F2937"/>
                </a:solidFill>
                <a:ea typeface="+mn-lt"/>
                <a:cs typeface="+mn-lt"/>
              </a:rPr>
              <a:t>meaning bigger engines are generally associated with higher prices.</a:t>
            </a:r>
            <a:endParaRPr lang="en-US" sz="1600" dirty="0">
              <a:solidFill>
                <a:srgbClr val="1F2937"/>
              </a:solidFill>
            </a:endParaRPr>
          </a:p>
          <a:p>
            <a:pPr marL="285750" indent="-285750">
              <a:lnSpc>
                <a:spcPct val="90000"/>
              </a:lnSpc>
              <a:spcBef>
                <a:spcPts val="1000"/>
              </a:spcBef>
              <a:buFont typeface="Arial"/>
              <a:buChar char="•"/>
            </a:pPr>
            <a:r>
              <a:rPr lang="en-US" sz="1600" dirty="0" err="1">
                <a:solidFill>
                  <a:srgbClr val="1F2937"/>
                </a:solidFill>
              </a:rPr>
              <a:t>make_year</a:t>
            </a:r>
            <a:r>
              <a:rPr lang="en-US" sz="1600" dirty="0">
                <a:solidFill>
                  <a:srgbClr val="1F2937"/>
                </a:solidFill>
              </a:rPr>
              <a:t> had a positive relationship with price </a:t>
            </a:r>
            <a:r>
              <a:rPr lang="en-US" sz="1600">
                <a:solidFill>
                  <a:srgbClr val="1F2937"/>
                </a:solidFill>
              </a:rPr>
              <a:t>as well</a:t>
            </a:r>
            <a:endParaRPr lang="en-US" sz="1600" dirty="0">
              <a:solidFill>
                <a:srgbClr val="1F2937"/>
              </a:solidFill>
            </a:endParaRPr>
          </a:p>
          <a:p>
            <a:pPr marL="285750" indent="-285750">
              <a:lnSpc>
                <a:spcPct val="90000"/>
              </a:lnSpc>
              <a:spcBef>
                <a:spcPts val="1000"/>
              </a:spcBef>
              <a:buFont typeface="Arial"/>
              <a:buChar char="•"/>
            </a:pPr>
            <a:r>
              <a:rPr lang="en-US" sz="1600" err="1">
                <a:solidFill>
                  <a:srgbClr val="1F2937"/>
                </a:solidFill>
              </a:rPr>
              <a:t>owner_count</a:t>
            </a:r>
            <a:r>
              <a:rPr lang="en-US" sz="1600" dirty="0">
                <a:solidFill>
                  <a:srgbClr val="1F2937"/>
                </a:solidFill>
              </a:rPr>
              <a:t> had a negative </a:t>
            </a:r>
            <a:r>
              <a:rPr lang="en-US" sz="1600">
                <a:solidFill>
                  <a:srgbClr val="1F2937"/>
                </a:solidFill>
              </a:rPr>
              <a:t>relationship with price </a:t>
            </a:r>
            <a:r>
              <a:rPr lang="en-US" sz="1600">
                <a:solidFill>
                  <a:srgbClr val="1F2937"/>
                </a:solidFill>
                <a:ea typeface="+mn-lt"/>
                <a:cs typeface="+mn-lt"/>
              </a:rPr>
              <a:t>meaning cars with more previous owners usually have lower prices.</a:t>
            </a:r>
          </a:p>
        </p:txBody>
      </p:sp>
      <p:sp>
        <p:nvSpPr>
          <p:cNvPr id="10" name="Text 7">
            <a:extLst>
              <a:ext uri="{FF2B5EF4-FFF2-40B4-BE49-F238E27FC236}">
                <a16:creationId xmlns:a16="http://schemas.microsoft.com/office/drawing/2014/main" id="{0BFA46E7-1396-4083-B807-0B31A0B02CAD}"/>
              </a:ext>
            </a:extLst>
          </p:cNvPr>
          <p:cNvSpPr/>
          <p:nvPr/>
        </p:nvSpPr>
        <p:spPr>
          <a:xfrm>
            <a:off x="7542477" y="4536632"/>
            <a:ext cx="1828800" cy="256032"/>
          </a:xfrm>
          <a:prstGeom prst="rect">
            <a:avLst/>
          </a:prstGeom>
          <a:noFill/>
          <a:ln/>
        </p:spPr>
        <p:txBody>
          <a:bodyPr wrap="square" lIns="0" tIns="0" rIns="0" bIns="0" rtlCol="0" anchor="ctr"/>
          <a:lstStyle/>
          <a:p>
            <a:pPr marL="0" indent="0">
              <a:buNone/>
            </a:pPr>
            <a:r>
              <a:rPr lang="en-US" sz="1700" b="1">
                <a:solidFill>
                  <a:srgbClr val="2B6CB0"/>
                </a:solidFill>
              </a:rPr>
              <a:t>Implication</a:t>
            </a:r>
            <a:endParaRPr lang="en-US" sz="1700"/>
          </a:p>
        </p:txBody>
      </p:sp>
      <p:sp>
        <p:nvSpPr>
          <p:cNvPr id="11" name="Text 8">
            <a:extLst>
              <a:ext uri="{FF2B5EF4-FFF2-40B4-BE49-F238E27FC236}">
                <a16:creationId xmlns:a16="http://schemas.microsoft.com/office/drawing/2014/main" id="{99502B98-38ED-BA09-B813-2F05F1BF9CE7}"/>
              </a:ext>
            </a:extLst>
          </p:cNvPr>
          <p:cNvSpPr/>
          <p:nvPr/>
        </p:nvSpPr>
        <p:spPr>
          <a:xfrm>
            <a:off x="7546248" y="5365300"/>
            <a:ext cx="3703320" cy="777240"/>
          </a:xfrm>
          <a:prstGeom prst="rect">
            <a:avLst/>
          </a:prstGeom>
          <a:noFill/>
          <a:ln/>
        </p:spPr>
        <p:txBody>
          <a:bodyPr wrap="square" lIns="0" tIns="0" rIns="0" bIns="0" rtlCol="0" anchor="ctr"/>
          <a:lstStyle/>
          <a:p>
            <a:r>
              <a:rPr lang="en-US" sz="1600" dirty="0">
                <a:solidFill>
                  <a:srgbClr val="1F2937"/>
                </a:solidFill>
                <a:ea typeface="+mn-lt"/>
                <a:cs typeface="+mn-lt"/>
              </a:rPr>
              <a:t>This heatmap shows linear relationships between features. Engine size has the strongest positive relationship with price, make year is also positive, and owner count is negative. Correlation doesn’t imply causation, which is why we also used Random Forest for more complex relationships.</a:t>
            </a:r>
            <a:endParaRPr lang="en-US" dirty="0">
              <a:ea typeface="+mn-lt"/>
              <a:cs typeface="+mn-lt"/>
            </a:endParaRPr>
          </a:p>
        </p:txBody>
      </p:sp>
      <p:sp>
        <p:nvSpPr>
          <p:cNvPr id="12" name="Text 9">
            <a:extLst>
              <a:ext uri="{FF2B5EF4-FFF2-40B4-BE49-F238E27FC236}">
                <a16:creationId xmlns:a16="http://schemas.microsoft.com/office/drawing/2014/main" id="{21ABB15A-C647-D144-FA37-D02A66920141}"/>
              </a:ext>
            </a:extLst>
          </p:cNvPr>
          <p:cNvSpPr/>
          <p:nvPr/>
        </p:nvSpPr>
        <p:spPr>
          <a:xfrm>
            <a:off x="8366760" y="6592824"/>
            <a:ext cx="3429000" cy="118872"/>
          </a:xfrm>
          <a:prstGeom prst="rect">
            <a:avLst/>
          </a:prstGeom>
          <a:noFill/>
          <a:ln/>
        </p:spPr>
        <p:txBody>
          <a:bodyPr wrap="square" lIns="0" tIns="0" rIns="0" bIns="0" rtlCol="0" anchor="ctr"/>
          <a:lstStyle/>
          <a:p>
            <a:pPr marL="0" indent="0" algn="r">
              <a:buNone/>
            </a:pPr>
            <a:r>
              <a:rPr lang="en-US" sz="850">
                <a:solidFill>
                  <a:srgbClr val="FFFFFF"/>
                </a:solidFill>
              </a:rPr>
              <a:t>Source: provided notebook screenshots</a:t>
            </a:r>
            <a:endParaRPr lang="en-US" sz="850"/>
          </a:p>
        </p:txBody>
      </p:sp>
      <p:pic>
        <p:nvPicPr>
          <p:cNvPr id="7" name="Picture 6" descr="A screenshot of a graph&#10;&#10;AI-generated content may be incorrect.">
            <a:extLst>
              <a:ext uri="{FF2B5EF4-FFF2-40B4-BE49-F238E27FC236}">
                <a16:creationId xmlns:a16="http://schemas.microsoft.com/office/drawing/2014/main" id="{2136C680-135B-D77E-7E2B-8692975A0C8B}"/>
              </a:ext>
            </a:extLst>
          </p:cNvPr>
          <p:cNvPicPr>
            <a:picLocks noChangeAspect="1"/>
          </p:cNvPicPr>
          <p:nvPr/>
        </p:nvPicPr>
        <p:blipFill>
          <a:blip r:embed="rId3"/>
          <a:stretch>
            <a:fillRect/>
          </a:stretch>
        </p:blipFill>
        <p:spPr>
          <a:xfrm>
            <a:off x="979981" y="1453187"/>
            <a:ext cx="5903627" cy="4301397"/>
          </a:xfrm>
          <a:prstGeom prst="rect">
            <a:avLst/>
          </a:prstGeom>
        </p:spPr>
      </p:pic>
    </p:spTree>
    <p:extLst>
      <p:ext uri="{BB962C8B-B14F-4D97-AF65-F5344CB8AC3E}">
        <p14:creationId xmlns:p14="http://schemas.microsoft.com/office/powerpoint/2010/main" val="1726533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9D3C6-C276-D3AA-0A7C-91628495DDED}"/>
              </a:ext>
            </a:extLst>
          </p:cNvPr>
          <p:cNvSpPr>
            <a:spLocks noGrp="1"/>
          </p:cNvSpPr>
          <p:nvPr>
            <p:ph type="title"/>
          </p:nvPr>
        </p:nvSpPr>
        <p:spPr/>
        <p:txBody>
          <a:bodyPr/>
          <a:lstStyle/>
          <a:p>
            <a:r>
              <a:rPr lang="en-US"/>
              <a:t>Model Results</a:t>
            </a:r>
          </a:p>
        </p:txBody>
      </p:sp>
      <p:sp>
        <p:nvSpPr>
          <p:cNvPr id="4" name="Text Placeholder 3">
            <a:extLst>
              <a:ext uri="{FF2B5EF4-FFF2-40B4-BE49-F238E27FC236}">
                <a16:creationId xmlns:a16="http://schemas.microsoft.com/office/drawing/2014/main" id="{BB6D59F7-1317-CD64-67DC-7DF0D873C2BE}"/>
              </a:ext>
            </a:extLst>
          </p:cNvPr>
          <p:cNvSpPr>
            <a:spLocks noGrp="1"/>
          </p:cNvSpPr>
          <p:nvPr>
            <p:ph type="body" idx="1"/>
          </p:nvPr>
        </p:nvSpPr>
        <p:spPr/>
        <p:txBody>
          <a:bodyPr/>
          <a:lstStyle/>
          <a:p>
            <a:r>
              <a:rPr lang="en-US">
                <a:ea typeface="+mn-lt"/>
                <a:cs typeface="+mn-lt"/>
              </a:rPr>
              <a:t>Linear Regression</a:t>
            </a:r>
            <a:endParaRPr lang="en-US"/>
          </a:p>
        </p:txBody>
      </p:sp>
      <p:sp>
        <p:nvSpPr>
          <p:cNvPr id="3" name="Content Placeholder 2">
            <a:extLst>
              <a:ext uri="{FF2B5EF4-FFF2-40B4-BE49-F238E27FC236}">
                <a16:creationId xmlns:a16="http://schemas.microsoft.com/office/drawing/2014/main" id="{28095368-6723-3365-3928-F18A21CEC2F3}"/>
              </a:ext>
            </a:extLst>
          </p:cNvPr>
          <p:cNvSpPr>
            <a:spLocks noGrp="1"/>
          </p:cNvSpPr>
          <p:nvPr>
            <p:ph sz="half" idx="2"/>
          </p:nvPr>
        </p:nvSpPr>
        <p:spPr/>
        <p:txBody>
          <a:bodyPr vert="horz" lIns="91440" tIns="45720" rIns="91440" bIns="45720" rtlCol="0" anchor="t">
            <a:normAutofit/>
          </a:bodyPr>
          <a:lstStyle/>
          <a:p>
            <a:pPr>
              <a:buFont typeface="Arial"/>
              <a:buChar char="•"/>
            </a:pPr>
            <a:r>
              <a:rPr lang="en-US" sz="1800">
                <a:ea typeface="+mn-lt"/>
                <a:cs typeface="+mn-lt"/>
              </a:rPr>
              <a:t>MAE: 1005.38 </a:t>
            </a:r>
            <a:endParaRPr lang="en-US" sz="1800"/>
          </a:p>
          <a:p>
            <a:pPr>
              <a:buFont typeface="Arial"/>
              <a:buChar char="•"/>
            </a:pPr>
            <a:r>
              <a:rPr lang="en-US" sz="1800">
                <a:ea typeface="+mn-lt"/>
                <a:cs typeface="+mn-lt"/>
              </a:rPr>
              <a:t>RMSE: 1317.78 </a:t>
            </a:r>
            <a:endParaRPr lang="en-US" sz="1800"/>
          </a:p>
          <a:p>
            <a:pPr>
              <a:buFont typeface="Arial"/>
              <a:buChar char="•"/>
            </a:pPr>
            <a:r>
              <a:rPr lang="en-US" sz="1800">
                <a:ea typeface="+mn-lt"/>
                <a:cs typeface="+mn-lt"/>
              </a:rPr>
              <a:t>R²: 0.782</a:t>
            </a:r>
            <a:endParaRPr lang="en-US" sz="1800"/>
          </a:p>
          <a:p>
            <a:pPr marL="0" indent="0">
              <a:buNone/>
            </a:pPr>
            <a:endParaRPr lang="en-US"/>
          </a:p>
        </p:txBody>
      </p:sp>
      <p:sp>
        <p:nvSpPr>
          <p:cNvPr id="5" name="Text Placeholder 4">
            <a:extLst>
              <a:ext uri="{FF2B5EF4-FFF2-40B4-BE49-F238E27FC236}">
                <a16:creationId xmlns:a16="http://schemas.microsoft.com/office/drawing/2014/main" id="{60EDCA48-C9D6-0140-957E-029D334948F2}"/>
              </a:ext>
            </a:extLst>
          </p:cNvPr>
          <p:cNvSpPr>
            <a:spLocks noGrp="1"/>
          </p:cNvSpPr>
          <p:nvPr>
            <p:ph type="body" sz="quarter" idx="3"/>
          </p:nvPr>
        </p:nvSpPr>
        <p:spPr/>
        <p:txBody>
          <a:bodyPr>
            <a:normAutofit/>
          </a:bodyPr>
          <a:lstStyle/>
          <a:p>
            <a:r>
              <a:rPr lang="en-US" sz="3200">
                <a:ea typeface="+mn-lt"/>
                <a:cs typeface="+mn-lt"/>
              </a:rPr>
              <a:t>Random Forest</a:t>
            </a:r>
          </a:p>
        </p:txBody>
      </p:sp>
      <p:sp>
        <p:nvSpPr>
          <p:cNvPr id="6" name="Content Placeholder 5">
            <a:extLst>
              <a:ext uri="{FF2B5EF4-FFF2-40B4-BE49-F238E27FC236}">
                <a16:creationId xmlns:a16="http://schemas.microsoft.com/office/drawing/2014/main" id="{6CF75226-54D2-3AC2-DBE0-0EEF8E3ED1D8}"/>
              </a:ext>
            </a:extLst>
          </p:cNvPr>
          <p:cNvSpPr>
            <a:spLocks noGrp="1"/>
          </p:cNvSpPr>
          <p:nvPr>
            <p:ph sz="quarter" idx="4"/>
          </p:nvPr>
        </p:nvSpPr>
        <p:spPr/>
        <p:txBody>
          <a:bodyPr vert="horz" lIns="91440" tIns="45720" rIns="91440" bIns="45720" rtlCol="0" anchor="t">
            <a:normAutofit/>
          </a:bodyPr>
          <a:lstStyle/>
          <a:p>
            <a:pPr>
              <a:buFont typeface="Arial"/>
              <a:buChar char="•"/>
            </a:pPr>
            <a:r>
              <a:rPr lang="en-US" sz="1800">
                <a:ea typeface="+mn-lt"/>
                <a:cs typeface="+mn-lt"/>
              </a:rPr>
              <a:t>MAE: 959.83 </a:t>
            </a:r>
          </a:p>
          <a:p>
            <a:pPr>
              <a:buFont typeface="Arial"/>
            </a:pPr>
            <a:r>
              <a:rPr lang="en-US" sz="1800">
                <a:ea typeface="+mn-lt"/>
                <a:cs typeface="+mn-lt"/>
              </a:rPr>
              <a:t>RMSE: 1220.94 </a:t>
            </a:r>
          </a:p>
          <a:p>
            <a:pPr>
              <a:buFont typeface="Arial"/>
            </a:pPr>
            <a:r>
              <a:rPr lang="en-US" sz="1800">
                <a:ea typeface="+mn-lt"/>
                <a:cs typeface="+mn-lt"/>
              </a:rPr>
              <a:t>R²: 0.813</a:t>
            </a:r>
          </a:p>
          <a:p>
            <a:pPr marL="0" indent="0">
              <a:buNone/>
            </a:pPr>
            <a:endParaRPr lang="en-US" sz="1400"/>
          </a:p>
        </p:txBody>
      </p:sp>
      <p:sp>
        <p:nvSpPr>
          <p:cNvPr id="8" name="TextBox 7">
            <a:extLst>
              <a:ext uri="{FF2B5EF4-FFF2-40B4-BE49-F238E27FC236}">
                <a16:creationId xmlns:a16="http://schemas.microsoft.com/office/drawing/2014/main" id="{B1F8F869-20BD-DCD8-0916-14463EBE65F9}"/>
              </a:ext>
            </a:extLst>
          </p:cNvPr>
          <p:cNvSpPr txBox="1"/>
          <p:nvPr/>
        </p:nvSpPr>
        <p:spPr>
          <a:xfrm>
            <a:off x="840016" y="4146482"/>
            <a:ext cx="720436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When we compared the two models, we used three metrics:</a:t>
            </a:r>
            <a:br>
              <a:rPr lang="en-US" dirty="0">
                <a:ea typeface="+mn-lt"/>
                <a:cs typeface="+mn-lt"/>
              </a:rPr>
            </a:br>
            <a:r>
              <a:rPr lang="en-US">
                <a:ea typeface="+mn-lt"/>
                <a:cs typeface="+mn-lt"/>
              </a:rPr>
              <a:t>Mean Absolute Error, Root Mean Squared Error, and R².</a:t>
            </a:r>
            <a:endParaRPr lang="en-US"/>
          </a:p>
          <a:p>
            <a:r>
              <a:rPr lang="en-US" dirty="0">
                <a:ea typeface="+mn-lt"/>
                <a:cs typeface="+mn-lt"/>
              </a:rPr>
              <a:t>Mean Absolute Error tells us the average difference between predicted </a:t>
            </a:r>
            <a:r>
              <a:rPr lang="en-US">
                <a:ea typeface="+mn-lt"/>
                <a:cs typeface="+mn-lt"/>
              </a:rPr>
              <a:t>and actual prices.</a:t>
            </a:r>
            <a:br>
              <a:rPr lang="en-US" dirty="0">
                <a:ea typeface="+mn-lt"/>
                <a:cs typeface="+mn-lt"/>
              </a:rPr>
            </a:br>
            <a:r>
              <a:rPr lang="en-US">
                <a:ea typeface="+mn-lt"/>
                <a:cs typeface="+mn-lt"/>
              </a:rPr>
              <a:t>Root Mean Squared Error penalizes larger mistakes more heavily.</a:t>
            </a:r>
            <a:br>
              <a:rPr lang="en-US" dirty="0">
                <a:ea typeface="+mn-lt"/>
                <a:cs typeface="+mn-lt"/>
              </a:rPr>
            </a:br>
            <a:r>
              <a:rPr lang="en-US" dirty="0">
                <a:ea typeface="+mn-lt"/>
                <a:cs typeface="+mn-lt"/>
              </a:rPr>
              <a:t>And R-squared shows how well the model explains the data.</a:t>
            </a:r>
          </a:p>
          <a:p>
            <a:r>
              <a:rPr lang="en-US">
                <a:ea typeface="+mn-lt"/>
                <a:cs typeface="+mn-lt"/>
              </a:rPr>
              <a:t>The Random Forest model performed better across all three metrics. It had lower errors and a higher R² value, so it was our best model.</a:t>
            </a:r>
          </a:p>
        </p:txBody>
      </p:sp>
    </p:spTree>
    <p:extLst>
      <p:ext uri="{BB962C8B-B14F-4D97-AF65-F5344CB8AC3E}">
        <p14:creationId xmlns:p14="http://schemas.microsoft.com/office/powerpoint/2010/main" val="2852154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FC83BA-BC71-D2C2-C16F-6F10B47B7C1A}"/>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a:solidFill>
                  <a:schemeClr val="tx1"/>
                </a:solidFill>
                <a:latin typeface="+mj-lt"/>
                <a:ea typeface="+mj-ea"/>
                <a:cs typeface="+mj-cs"/>
              </a:rPr>
              <a:t>Model Demonstration</a:t>
            </a:r>
          </a:p>
        </p:txBody>
      </p:sp>
      <p:sp>
        <p:nvSpPr>
          <p:cNvPr id="14"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773268A1-97F6-8D7B-74A4-C20FE85F83BC}"/>
              </a:ext>
            </a:extLst>
          </p:cNvPr>
          <p:cNvSpPr>
            <a:spLocks noGrp="1"/>
          </p:cNvSpPr>
          <p:nvPr>
            <p:ph sz="half" idx="1"/>
          </p:nvPr>
        </p:nvSpPr>
        <p:spPr>
          <a:xfrm>
            <a:off x="641374" y="2660904"/>
            <a:ext cx="5340806" cy="3547872"/>
          </a:xfrm>
        </p:spPr>
        <p:txBody>
          <a:bodyPr vert="horz" lIns="91440" tIns="45720" rIns="91440" bIns="45720" rtlCol="0" anchor="t">
            <a:normAutofit fontScale="70000" lnSpcReduction="20000"/>
          </a:bodyPr>
          <a:lstStyle/>
          <a:p>
            <a:pPr marL="0" indent="0">
              <a:buNone/>
            </a:pPr>
            <a:r>
              <a:rPr lang="en-US" sz="2200" b="1">
                <a:ea typeface="+mn-lt"/>
                <a:cs typeface="+mn-lt"/>
              </a:rPr>
              <a:t>Example Input</a:t>
            </a:r>
            <a:endParaRPr lang="en-US" b="1">
              <a:ea typeface="+mn-lt"/>
              <a:cs typeface="+mn-lt"/>
            </a:endParaRPr>
          </a:p>
          <a:p>
            <a:r>
              <a:rPr lang="en-US" sz="2200">
                <a:ea typeface="+mn-lt"/>
                <a:cs typeface="+mn-lt"/>
              </a:rPr>
              <a:t>Make Year: 2015 </a:t>
            </a:r>
            <a:endParaRPr lang="en-US"/>
          </a:p>
          <a:p>
            <a:r>
              <a:rPr lang="en-US" sz="2200">
                <a:ea typeface="+mn-lt"/>
                <a:cs typeface="+mn-lt"/>
              </a:rPr>
              <a:t>Mileage: 12.09 km/l </a:t>
            </a:r>
            <a:endParaRPr lang="en-US"/>
          </a:p>
          <a:p>
            <a:r>
              <a:rPr lang="en-US" sz="2200">
                <a:ea typeface="+mn-lt"/>
                <a:cs typeface="+mn-lt"/>
              </a:rPr>
              <a:t>Engine: 5000 cc </a:t>
            </a:r>
            <a:endParaRPr lang="en-US"/>
          </a:p>
          <a:p>
            <a:r>
              <a:rPr lang="en-US" sz="2200">
                <a:ea typeface="+mn-lt"/>
                <a:cs typeface="+mn-lt"/>
              </a:rPr>
              <a:t>Fuel Type: Diesel </a:t>
            </a:r>
            <a:endParaRPr lang="en-US"/>
          </a:p>
          <a:p>
            <a:r>
              <a:rPr lang="en-US" sz="2200">
                <a:ea typeface="+mn-lt"/>
                <a:cs typeface="+mn-lt"/>
              </a:rPr>
              <a:t>Owner Count: 1</a:t>
            </a:r>
            <a:endParaRPr lang="en-US"/>
          </a:p>
          <a:p>
            <a:pPr marL="0" indent="0">
              <a:buNone/>
            </a:pPr>
            <a:r>
              <a:rPr lang="en-US" sz="2200" b="1"/>
              <a:t>Prediction</a:t>
            </a:r>
          </a:p>
          <a:p>
            <a:r>
              <a:rPr lang="en-US" sz="2200"/>
              <a:t>Predicted Price: $12,354 </a:t>
            </a:r>
          </a:p>
          <a:p>
            <a:r>
              <a:rPr lang="en-US" sz="2200"/>
              <a:t>Actual Price: $12,772</a:t>
            </a:r>
          </a:p>
          <a:p>
            <a:pPr marL="0" indent="0">
              <a:buNone/>
            </a:pPr>
            <a:r>
              <a:rPr lang="en-US" sz="2200">
                <a:ea typeface="+mn-lt"/>
                <a:cs typeface="+mn-lt"/>
              </a:rPr>
              <a:t>This slide shows an example prediction from our Random Forest model. We input a car with specific features, and the model predicted a price of about $12,354. The actual price was about $12,772, so the prediction is very close, showing that the model performs well.</a:t>
            </a:r>
            <a:endParaRPr lang="en-US"/>
          </a:p>
        </p:txBody>
      </p:sp>
      <p:pic>
        <p:nvPicPr>
          <p:cNvPr id="7" name="Content Placeholder 6" descr="A screenshot of a computer program&#10;&#10;AI-generated content may be incorrect.">
            <a:extLst>
              <a:ext uri="{FF2B5EF4-FFF2-40B4-BE49-F238E27FC236}">
                <a16:creationId xmlns:a16="http://schemas.microsoft.com/office/drawing/2014/main" id="{9212AAB6-9346-BED3-9A8A-FDFDD4E30CEE}"/>
              </a:ext>
            </a:extLst>
          </p:cNvPr>
          <p:cNvPicPr>
            <a:picLocks noGrp="1" noChangeAspect="1"/>
          </p:cNvPicPr>
          <p:nvPr>
            <p:ph sz="half" idx="2"/>
          </p:nvPr>
        </p:nvPicPr>
        <p:blipFill>
          <a:blip r:embed="rId2"/>
          <a:stretch>
            <a:fillRect/>
          </a:stretch>
        </p:blipFill>
        <p:spPr>
          <a:xfrm>
            <a:off x="6099048" y="1941387"/>
            <a:ext cx="5458968" cy="2975225"/>
          </a:xfrm>
          <a:prstGeom prst="rect">
            <a:avLst/>
          </a:prstGeom>
        </p:spPr>
      </p:pic>
    </p:spTree>
    <p:extLst>
      <p:ext uri="{BB962C8B-B14F-4D97-AF65-F5344CB8AC3E}">
        <p14:creationId xmlns:p14="http://schemas.microsoft.com/office/powerpoint/2010/main" val="60614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A1E26E-33AF-3A8B-B3E0-2C57C9440CF5}"/>
              </a:ext>
            </a:extLst>
          </p:cNvPr>
          <p:cNvSpPr>
            <a:spLocks noGrp="1"/>
          </p:cNvSpPr>
          <p:nvPr>
            <p:ph type="title"/>
          </p:nvPr>
        </p:nvSpPr>
        <p:spPr>
          <a:xfrm>
            <a:off x="1452656" y="1444741"/>
            <a:ext cx="9357865" cy="1041901"/>
          </a:xfrm>
        </p:spPr>
        <p:txBody>
          <a:bodyPr>
            <a:normAutofit/>
          </a:bodyPr>
          <a:lstStyle/>
          <a:p>
            <a:r>
              <a:rPr lang="en-US" sz="4000"/>
              <a:t>Limitations</a:t>
            </a:r>
          </a:p>
        </p:txBody>
      </p:sp>
      <p:sp>
        <p:nvSpPr>
          <p:cNvPr id="3" name="Content Placeholder 2">
            <a:extLst>
              <a:ext uri="{FF2B5EF4-FFF2-40B4-BE49-F238E27FC236}">
                <a16:creationId xmlns:a16="http://schemas.microsoft.com/office/drawing/2014/main" id="{9AE7CF14-AAB2-453B-0639-F2853E53E859}"/>
              </a:ext>
            </a:extLst>
          </p:cNvPr>
          <p:cNvSpPr>
            <a:spLocks noGrp="1"/>
          </p:cNvSpPr>
          <p:nvPr>
            <p:ph sz="half" idx="1"/>
          </p:nvPr>
        </p:nvSpPr>
        <p:spPr>
          <a:xfrm>
            <a:off x="1452656" y="2701427"/>
            <a:ext cx="4483324" cy="2699968"/>
          </a:xfrm>
        </p:spPr>
        <p:txBody>
          <a:bodyPr vert="horz" lIns="91440" tIns="45720" rIns="91440" bIns="45720" rtlCol="0">
            <a:normAutofit/>
          </a:bodyPr>
          <a:lstStyle/>
          <a:p>
            <a:r>
              <a:rPr lang="en-US" sz="2000">
                <a:ea typeface="+mn-lt"/>
                <a:cs typeface="+mn-lt"/>
              </a:rPr>
              <a:t>Results are based on one Kaggle dataset </a:t>
            </a:r>
            <a:endParaRPr lang="en-US" sz="2000"/>
          </a:p>
          <a:p>
            <a:r>
              <a:rPr lang="en-US" sz="2000">
                <a:ea typeface="+mn-lt"/>
                <a:cs typeface="+mn-lt"/>
              </a:rPr>
              <a:t>Some real-world factors were not included </a:t>
            </a:r>
            <a:endParaRPr lang="en-US" sz="2000"/>
          </a:p>
          <a:p>
            <a:r>
              <a:rPr lang="en-US" sz="2000">
                <a:ea typeface="+mn-lt"/>
                <a:cs typeface="+mn-lt"/>
              </a:rPr>
              <a:t>Vehicle condition and location were missing </a:t>
            </a:r>
            <a:endParaRPr lang="en-US" sz="2000"/>
          </a:p>
          <a:p>
            <a:r>
              <a:rPr lang="en-US" sz="2000">
                <a:ea typeface="+mn-lt"/>
                <a:cs typeface="+mn-lt"/>
              </a:rPr>
              <a:t>Results may vary with other datasets</a:t>
            </a:r>
            <a:endParaRPr lang="en-US" sz="2000"/>
          </a:p>
          <a:p>
            <a:endParaRPr lang="en-US" sz="2000"/>
          </a:p>
        </p:txBody>
      </p:sp>
      <p:sp>
        <p:nvSpPr>
          <p:cNvPr id="4" name="Content Placeholder 3">
            <a:extLst>
              <a:ext uri="{FF2B5EF4-FFF2-40B4-BE49-F238E27FC236}">
                <a16:creationId xmlns:a16="http://schemas.microsoft.com/office/drawing/2014/main" id="{A5990A4F-76F0-4A0A-625E-5B4A05C0B63A}"/>
              </a:ext>
            </a:extLst>
          </p:cNvPr>
          <p:cNvSpPr>
            <a:spLocks noGrp="1"/>
          </p:cNvSpPr>
          <p:nvPr>
            <p:ph sz="half" idx="2"/>
          </p:nvPr>
        </p:nvSpPr>
        <p:spPr>
          <a:xfrm>
            <a:off x="6256020" y="2701427"/>
            <a:ext cx="4554501" cy="2699968"/>
          </a:xfrm>
        </p:spPr>
        <p:txBody>
          <a:bodyPr vert="horz" lIns="91440" tIns="45720" rIns="91440" bIns="45720" rtlCol="0">
            <a:normAutofit/>
          </a:bodyPr>
          <a:lstStyle/>
          <a:p>
            <a:pPr marL="0" indent="0">
              <a:buNone/>
            </a:pPr>
            <a:r>
              <a:rPr lang="en-US" sz="2000">
                <a:ea typeface="+mn-lt"/>
                <a:cs typeface="+mn-lt"/>
              </a:rPr>
              <a:t>One limitation is that this project is based on one dataset, so it may not capture every real-world pricing factor. For example, vehicle condition, local market differences, and location were not included.</a:t>
            </a:r>
          </a:p>
        </p:txBody>
      </p:sp>
    </p:spTree>
    <p:extLst>
      <p:ext uri="{BB962C8B-B14F-4D97-AF65-F5344CB8AC3E}">
        <p14:creationId xmlns:p14="http://schemas.microsoft.com/office/powerpoint/2010/main" val="3023112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D583AA-63F2-A1C1-C500-20F96FA814B4}"/>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Conclusion </a:t>
            </a:r>
          </a:p>
        </p:txBody>
      </p:sp>
      <p:sp>
        <p:nvSpPr>
          <p:cNvPr id="3" name="Content Placeholder 2">
            <a:extLst>
              <a:ext uri="{FF2B5EF4-FFF2-40B4-BE49-F238E27FC236}">
                <a16:creationId xmlns:a16="http://schemas.microsoft.com/office/drawing/2014/main" id="{CF3668C8-94B6-B06F-A6B3-2912F20932C5}"/>
              </a:ext>
            </a:extLst>
          </p:cNvPr>
          <p:cNvSpPr>
            <a:spLocks noGrp="1"/>
          </p:cNvSpPr>
          <p:nvPr>
            <p:ph idx="1"/>
          </p:nvPr>
        </p:nvSpPr>
        <p:spPr>
          <a:xfrm>
            <a:off x="804672" y="2421682"/>
            <a:ext cx="4977578" cy="3639289"/>
          </a:xfrm>
        </p:spPr>
        <p:txBody>
          <a:bodyPr vert="horz" lIns="91440" tIns="45720" rIns="91440" bIns="45720" rtlCol="0" anchor="ctr">
            <a:normAutofit/>
          </a:bodyPr>
          <a:lstStyle/>
          <a:p>
            <a:r>
              <a:rPr lang="en-US" sz="1500">
                <a:solidFill>
                  <a:schemeClr val="tx2"/>
                </a:solidFill>
                <a:ea typeface="+mn-lt"/>
                <a:cs typeface="+mn-lt"/>
              </a:rPr>
              <a:t>Machine learning can effectively predict used car prices </a:t>
            </a:r>
          </a:p>
          <a:p>
            <a:r>
              <a:rPr lang="en-US" sz="1500">
                <a:solidFill>
                  <a:schemeClr val="tx2"/>
                </a:solidFill>
                <a:ea typeface="+mn-lt"/>
                <a:cs typeface="+mn-lt"/>
              </a:rPr>
              <a:t>Random Forest was the best-performing model </a:t>
            </a:r>
            <a:endParaRPr lang="en-US" sz="1500">
              <a:solidFill>
                <a:schemeClr val="tx2"/>
              </a:solidFill>
            </a:endParaRPr>
          </a:p>
          <a:p>
            <a:r>
              <a:rPr lang="en-US" sz="1500">
                <a:solidFill>
                  <a:schemeClr val="tx2"/>
                </a:solidFill>
                <a:ea typeface="+mn-lt"/>
                <a:cs typeface="+mn-lt"/>
              </a:rPr>
              <a:t>Engine size, make year, and fuel efficiency were the strongest predictors </a:t>
            </a:r>
            <a:endParaRPr lang="en-US" sz="1500">
              <a:solidFill>
                <a:schemeClr val="tx2"/>
              </a:solidFill>
            </a:endParaRPr>
          </a:p>
          <a:p>
            <a:r>
              <a:rPr lang="en-US" sz="1500">
                <a:solidFill>
                  <a:schemeClr val="tx2"/>
                </a:solidFill>
                <a:ea typeface="+mn-lt"/>
                <a:cs typeface="+mn-lt"/>
              </a:rPr>
              <a:t>This project shows the value of data-driven pricing</a:t>
            </a:r>
            <a:endParaRPr lang="en-US" sz="1500">
              <a:solidFill>
                <a:schemeClr val="tx2"/>
              </a:solidFill>
            </a:endParaRPr>
          </a:p>
          <a:p>
            <a:endParaRPr lang="en-US" sz="1500">
              <a:solidFill>
                <a:schemeClr val="tx2"/>
              </a:solidFill>
            </a:endParaRPr>
          </a:p>
          <a:p>
            <a:pPr marL="0" indent="0">
              <a:buNone/>
            </a:pPr>
            <a:r>
              <a:rPr lang="en-US" sz="1500">
                <a:solidFill>
                  <a:schemeClr val="tx2"/>
                </a:solidFill>
                <a:ea typeface="+mn-lt"/>
                <a:cs typeface="+mn-lt"/>
              </a:rPr>
              <a:t>In conclusion, machine learning was effective for predicting used car prices, and Random Forest gave us the strongest results. Overall, this project shows how data-driven models can support real-world pricing decisions</a:t>
            </a:r>
            <a:endParaRPr lang="en-US" sz="1500">
              <a:solidFill>
                <a:schemeClr val="tx2"/>
              </a:solidFill>
            </a:endParaRPr>
          </a:p>
          <a:p>
            <a:endParaRPr lang="en-US" sz="15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ar">
            <a:extLst>
              <a:ext uri="{FF2B5EF4-FFF2-40B4-BE49-F238E27FC236}">
                <a16:creationId xmlns:a16="http://schemas.microsoft.com/office/drawing/2014/main" id="{F3B094F2-CC29-DF8D-ADE4-8EF0DAFA94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244480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1099</Words>
  <Application>Microsoft Office PowerPoint</Application>
  <PresentationFormat>Widescreen</PresentationFormat>
  <Paragraphs>128</Paragraphs>
  <Slides>15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Calibri</vt:lpstr>
      <vt:lpstr>office theme</vt:lpstr>
      <vt:lpstr>Used Car Price Prediction  Using Data Mining</vt:lpstr>
      <vt:lpstr>Problem </vt:lpstr>
      <vt:lpstr>Why it Matters</vt:lpstr>
      <vt:lpstr>Dataset</vt:lpstr>
      <vt:lpstr>Data Preprocessing</vt:lpstr>
      <vt:lpstr>Models Used</vt:lpstr>
      <vt:lpstr>PowerPoint Presentation</vt:lpstr>
      <vt:lpstr>PowerPoint Presentation</vt:lpstr>
      <vt:lpstr>PowerPoint Presentation</vt:lpstr>
      <vt:lpstr>PowerPoint Presentation</vt:lpstr>
      <vt:lpstr>PowerPoint Presentation</vt:lpstr>
      <vt:lpstr>Model Results</vt:lpstr>
      <vt:lpstr>Model Demonstration</vt:lpstr>
      <vt:lpstr>Limitations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 Custodio</dc:creator>
  <cp:lastModifiedBy>Josh Custodio</cp:lastModifiedBy>
  <cp:revision>74</cp:revision>
  <dcterms:created xsi:type="dcterms:W3CDTF">2026-04-19T22:40:17Z</dcterms:created>
  <dcterms:modified xsi:type="dcterms:W3CDTF">2026-04-23T19:26:53Z</dcterms:modified>
</cp:coreProperties>
</file>